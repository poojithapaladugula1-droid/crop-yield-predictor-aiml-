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3" r:id="rId7"/>
    <p:sldId id="269" r:id="rId8"/>
    <p:sldId id="270" r:id="rId9"/>
    <p:sldId id="272" r:id="rId10"/>
    <p:sldId id="271" r:id="rId11"/>
    <p:sldId id="274" r:id="rId12"/>
    <p:sldId id="277" r:id="rId13"/>
    <p:sldId id="278" r:id="rId14"/>
    <p:sldId id="276" r:id="rId15"/>
    <p:sldId id="265" r:id="rId16"/>
    <p:sldId id="266" r:id="rId17"/>
  </p:sldIdLst>
  <p:sldSz cx="18288000" cy="10287000"/>
  <p:notesSz cx="6858000" cy="9144000"/>
  <p:embeddedFontLst>
    <p:embeddedFont>
      <p:font typeface="Calibri" pitchFamily="34" charset="0"/>
      <p:regular r:id="rId19"/>
      <p:bold r:id="rId20"/>
      <p:italic r:id="rId21"/>
      <p:boldItalic r:id="rId22"/>
    </p:embeddedFont>
    <p:embeddedFont>
      <p:font typeface="Copperplate Gothic 32 AB" charset="0"/>
      <p:regular r:id="rId23"/>
    </p:embeddedFont>
    <p:embeddedFont>
      <p:font typeface="Lato Bold Italics" charset="0"/>
      <p:regular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69C6131-B12E-400A-9FD5-584FAAA4D571}" v="53" dt="2025-10-24T00:29:47.00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5300" autoAdjust="0"/>
  </p:normalViewPr>
  <p:slideViewPr>
    <p:cSldViewPr>
      <p:cViewPr varScale="1">
        <p:scale>
          <a:sx n="43" d="100"/>
          <a:sy n="43" d="100"/>
        </p:scale>
        <p:origin x="-696" y="-6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70B7FF-CCC8-4287-83CE-73BC6019AF6F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EB7EB1F-3D37-4290-A33A-698096B573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08291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B7EB1F-3D37-4290-A33A-698096B5738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77057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B7EB1F-3D37-4290-A33A-698096B5738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53268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mdpi.com/2077-0472/13/1/225?utm_source=chatgpt.com" TargetMode="External"/><Relationship Id="rId2" Type="http://schemas.openxmlformats.org/officeDocument/2006/relationships/hyperlink" Target="https://www.mdpi.com/2073-431X/13/6/137?utm_source=chatgpt.com" TargetMode="External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arxiv.org/abs/2404.15392?utm_source=chatgpt.com" TargetMode="External"/><Relationship Id="rId4" Type="http://schemas.openxmlformats.org/officeDocument/2006/relationships/hyperlink" Target="https://ijisae.org/index.php/IJISAE/article/view/7451?utm_source=chatgpt.com" TargetMode="Externa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60749" y="8520545"/>
            <a:ext cx="16230600" cy="1475509"/>
          </a:xfrm>
          <a:custGeom>
            <a:avLst/>
            <a:gdLst/>
            <a:ahLst/>
            <a:cxnLst/>
            <a:rect l="l" t="t" r="r" b="b"/>
            <a:pathLst>
              <a:path w="16230600" h="1475509">
                <a:moveTo>
                  <a:pt x="0" y="0"/>
                </a:moveTo>
                <a:lnTo>
                  <a:pt x="16230600" y="0"/>
                </a:lnTo>
                <a:lnTo>
                  <a:pt x="16230600" y="1475510"/>
                </a:lnTo>
                <a:lnTo>
                  <a:pt x="0" y="1475510"/>
                </a:lnTo>
                <a:lnTo>
                  <a:pt x="0" y="0"/>
                </a:lnTo>
                <a:close/>
              </a:path>
            </a:pathLst>
          </a:custGeom>
          <a:blipFill>
            <a:blip r:embed="rId2" cstate="print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2299709" y="7116593"/>
            <a:ext cx="669665" cy="998146"/>
          </a:xfrm>
          <a:custGeom>
            <a:avLst/>
            <a:gdLst/>
            <a:ahLst/>
            <a:cxnLst/>
            <a:rect l="l" t="t" r="r" b="b"/>
            <a:pathLst>
              <a:path w="669665" h="998146">
                <a:moveTo>
                  <a:pt x="0" y="0"/>
                </a:moveTo>
                <a:lnTo>
                  <a:pt x="669665" y="0"/>
                </a:lnTo>
                <a:lnTo>
                  <a:pt x="669665" y="998146"/>
                </a:lnTo>
                <a:lnTo>
                  <a:pt x="0" y="998146"/>
                </a:lnTo>
                <a:lnTo>
                  <a:pt x="0" y="0"/>
                </a:lnTo>
                <a:close/>
              </a:path>
            </a:pathLst>
          </a:custGeom>
          <a:blipFill>
            <a:blip r:embed="rId3" cstate="print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57611" y="-38100"/>
            <a:ext cx="18345611" cy="10287000"/>
          </a:xfrm>
          <a:custGeom>
            <a:avLst/>
            <a:gdLst/>
            <a:ahLst/>
            <a:cxnLst/>
            <a:rect l="l" t="t" r="r" b="b"/>
            <a:pathLst>
              <a:path w="18345611" h="10287000">
                <a:moveTo>
                  <a:pt x="0" y="0"/>
                </a:moveTo>
                <a:lnTo>
                  <a:pt x="18345611" y="0"/>
                </a:lnTo>
                <a:lnTo>
                  <a:pt x="18345611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5" cstate="print"/>
            <a:stretch>
              <a:fillRect l="-12303" t="-17366" r="-13051"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2743200" y="3695700"/>
            <a:ext cx="14092462" cy="15156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561"/>
              </a:lnSpc>
              <a:spcBef>
                <a:spcPct val="0"/>
              </a:spcBef>
            </a:pPr>
            <a:r>
              <a:rPr lang="en-US" sz="8972" b="1" dirty="0">
                <a:solidFill>
                  <a:srgbClr val="D9D9D9"/>
                </a:solidFill>
                <a:latin typeface="Agrandir Bold"/>
                <a:ea typeface="Agrandir Bold"/>
                <a:cs typeface="Agrandir Bold"/>
                <a:sym typeface="Agrandir Bold"/>
              </a:rPr>
              <a:t>CROP YIELD PREDICTION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5159319" y="8067114"/>
            <a:ext cx="2749272" cy="16455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01"/>
              </a:lnSpc>
            </a:pPr>
            <a:r>
              <a:rPr lang="en-US" sz="2819" b="1">
                <a:solidFill>
                  <a:srgbClr val="D9D9D9"/>
                </a:solidFill>
                <a:latin typeface="Agrandir Bold"/>
                <a:ea typeface="Agrandir Bold"/>
                <a:cs typeface="Agrandir Bold"/>
                <a:sym typeface="Agrandir Bold"/>
              </a:rPr>
              <a:t>K.Lakshmi Sri</a:t>
            </a:r>
          </a:p>
          <a:p>
            <a:pPr algn="ctr">
              <a:lnSpc>
                <a:spcPts val="3101"/>
              </a:lnSpc>
            </a:pPr>
            <a:r>
              <a:rPr lang="en-US" sz="2819" b="1">
                <a:solidFill>
                  <a:srgbClr val="D9D9D9"/>
                </a:solidFill>
                <a:latin typeface="Agrandir Bold"/>
                <a:ea typeface="Agrandir Bold"/>
                <a:cs typeface="Agrandir Bold"/>
                <a:sym typeface="Agrandir Bold"/>
              </a:rPr>
              <a:t>P.Poojitha</a:t>
            </a:r>
          </a:p>
          <a:p>
            <a:pPr algn="ctr">
              <a:lnSpc>
                <a:spcPts val="3101"/>
              </a:lnSpc>
            </a:pPr>
            <a:r>
              <a:rPr lang="en-US" sz="2819" b="1">
                <a:solidFill>
                  <a:srgbClr val="D9D9D9"/>
                </a:solidFill>
                <a:latin typeface="Agrandir Bold"/>
                <a:ea typeface="Agrandir Bold"/>
                <a:cs typeface="Agrandir Bold"/>
                <a:sym typeface="Agrandir Bold"/>
              </a:rPr>
              <a:t>A.Jyoshna Sree</a:t>
            </a:r>
          </a:p>
          <a:p>
            <a:pPr algn="ctr">
              <a:lnSpc>
                <a:spcPts val="3101"/>
              </a:lnSpc>
              <a:spcBef>
                <a:spcPct val="0"/>
              </a:spcBef>
            </a:pPr>
            <a:r>
              <a:rPr lang="en-US" sz="2819" b="1">
                <a:solidFill>
                  <a:srgbClr val="D9D9D9"/>
                </a:solidFill>
                <a:latin typeface="Agrandir Bold"/>
                <a:ea typeface="Agrandir Bold"/>
                <a:cs typeface="Agrandir Bold"/>
                <a:sym typeface="Agrandir Bold"/>
              </a:rPr>
              <a:t>S.Amrutha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514350" y="2521881"/>
            <a:ext cx="7162455" cy="5433573"/>
            <a:chOff x="0" y="0"/>
            <a:chExt cx="1886408" cy="143106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886408" cy="1431064"/>
            </a:xfrm>
            <a:custGeom>
              <a:avLst/>
              <a:gdLst/>
              <a:ahLst/>
              <a:cxnLst/>
              <a:rect l="l" t="t" r="r" b="b"/>
              <a:pathLst>
                <a:path w="1886408" h="1431064">
                  <a:moveTo>
                    <a:pt x="55126" y="0"/>
                  </a:moveTo>
                  <a:lnTo>
                    <a:pt x="1831282" y="0"/>
                  </a:lnTo>
                  <a:cubicBezTo>
                    <a:pt x="1861727" y="0"/>
                    <a:pt x="1886408" y="24681"/>
                    <a:pt x="1886408" y="55126"/>
                  </a:cubicBezTo>
                  <a:lnTo>
                    <a:pt x="1886408" y="1375938"/>
                  </a:lnTo>
                  <a:cubicBezTo>
                    <a:pt x="1886408" y="1390559"/>
                    <a:pt x="1880600" y="1404580"/>
                    <a:pt x="1870262" y="1414918"/>
                  </a:cubicBezTo>
                  <a:cubicBezTo>
                    <a:pt x="1859923" y="1425257"/>
                    <a:pt x="1845902" y="1431064"/>
                    <a:pt x="1831282" y="1431064"/>
                  </a:cubicBezTo>
                  <a:lnTo>
                    <a:pt x="55126" y="1431064"/>
                  </a:lnTo>
                  <a:cubicBezTo>
                    <a:pt x="24681" y="1431064"/>
                    <a:pt x="0" y="1406384"/>
                    <a:pt x="0" y="1375938"/>
                  </a:cubicBezTo>
                  <a:lnTo>
                    <a:pt x="0" y="55126"/>
                  </a:lnTo>
                  <a:cubicBezTo>
                    <a:pt x="0" y="24681"/>
                    <a:pt x="24681" y="0"/>
                    <a:pt x="55126" y="0"/>
                  </a:cubicBezTo>
                  <a:close/>
                </a:path>
              </a:pathLst>
            </a:custGeom>
            <a:solidFill>
              <a:srgbClr val="17320B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66675"/>
              <a:ext cx="1886408" cy="149773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3"/>
                </a:lnSpc>
              </a:pPr>
              <a:endParaRPr/>
            </a:p>
          </p:txBody>
        </p:sp>
      </p:grpSp>
      <p:grpSp>
        <p:nvGrpSpPr>
          <p:cNvPr id="5" name="Group 5"/>
          <p:cNvGrpSpPr>
            <a:grpSpLocks noChangeAspect="1"/>
          </p:cNvGrpSpPr>
          <p:nvPr/>
        </p:nvGrpSpPr>
        <p:grpSpPr>
          <a:xfrm>
            <a:off x="2323683" y="2040511"/>
            <a:ext cx="6205979" cy="6205979"/>
            <a:chOff x="0" y="0"/>
            <a:chExt cx="14840029" cy="14840029"/>
          </a:xfrm>
        </p:grpSpPr>
        <p:sp>
          <p:nvSpPr>
            <p:cNvPr id="6" name="Freeform 6"/>
            <p:cNvSpPr/>
            <p:nvPr/>
          </p:nvSpPr>
          <p:spPr>
            <a:xfrm>
              <a:off x="-366471" y="-11891"/>
              <a:ext cx="15572971" cy="14863810"/>
            </a:xfrm>
            <a:custGeom>
              <a:avLst/>
              <a:gdLst/>
              <a:ahLst/>
              <a:cxnLst/>
              <a:rect l="l" t="t" r="r" b="b"/>
              <a:pathLst>
                <a:path w="15572971" h="14863810">
                  <a:moveTo>
                    <a:pt x="7786486" y="11891"/>
                  </a:moveTo>
                  <a:cubicBezTo>
                    <a:pt x="5127664" y="0"/>
                    <a:pt x="2665709" y="1411641"/>
                    <a:pt x="1332855" y="3712286"/>
                  </a:cubicBezTo>
                  <a:cubicBezTo>
                    <a:pt x="0" y="6012931"/>
                    <a:pt x="0" y="8850880"/>
                    <a:pt x="1332855" y="11151525"/>
                  </a:cubicBezTo>
                  <a:cubicBezTo>
                    <a:pt x="2665709" y="13452170"/>
                    <a:pt x="5127664" y="14863811"/>
                    <a:pt x="7786486" y="14851920"/>
                  </a:cubicBezTo>
                  <a:cubicBezTo>
                    <a:pt x="10445306" y="14863811"/>
                    <a:pt x="12907262" y="13452170"/>
                    <a:pt x="14240117" y="11151525"/>
                  </a:cubicBezTo>
                  <a:cubicBezTo>
                    <a:pt x="15572971" y="8850880"/>
                    <a:pt x="15572971" y="6012931"/>
                    <a:pt x="14240117" y="3712286"/>
                  </a:cubicBezTo>
                  <a:cubicBezTo>
                    <a:pt x="12907262" y="1411641"/>
                    <a:pt x="10445306" y="0"/>
                    <a:pt x="7786486" y="11891"/>
                  </a:cubicBezTo>
                  <a:close/>
                </a:path>
              </a:pathLst>
            </a:custGeom>
            <a:solidFill>
              <a:srgbClr val="B2A631"/>
            </a:solidFill>
          </p:spPr>
        </p:sp>
        <p:sp>
          <p:nvSpPr>
            <p:cNvPr id="7" name="Freeform 7"/>
            <p:cNvSpPr/>
            <p:nvPr/>
          </p:nvSpPr>
          <p:spPr>
            <a:xfrm>
              <a:off x="-156193" y="188812"/>
              <a:ext cx="15152415" cy="14462405"/>
            </a:xfrm>
            <a:custGeom>
              <a:avLst/>
              <a:gdLst/>
              <a:ahLst/>
              <a:cxnLst/>
              <a:rect l="l" t="t" r="r" b="b"/>
              <a:pathLst>
                <a:path w="15152415" h="14462405">
                  <a:moveTo>
                    <a:pt x="7576208" y="11570"/>
                  </a:moveTo>
                  <a:cubicBezTo>
                    <a:pt x="4989189" y="0"/>
                    <a:pt x="2593721" y="1373519"/>
                    <a:pt x="1296860" y="3612034"/>
                  </a:cubicBezTo>
                  <a:cubicBezTo>
                    <a:pt x="0" y="5850548"/>
                    <a:pt x="0" y="8611857"/>
                    <a:pt x="1296860" y="10850372"/>
                  </a:cubicBezTo>
                  <a:cubicBezTo>
                    <a:pt x="2593721" y="13088886"/>
                    <a:pt x="4989189" y="14462405"/>
                    <a:pt x="7576208" y="14450835"/>
                  </a:cubicBezTo>
                  <a:cubicBezTo>
                    <a:pt x="10163226" y="14462405"/>
                    <a:pt x="12558694" y="13088886"/>
                    <a:pt x="13855555" y="10850372"/>
                  </a:cubicBezTo>
                  <a:cubicBezTo>
                    <a:pt x="15152416" y="8611857"/>
                    <a:pt x="15152416" y="5850548"/>
                    <a:pt x="13855555" y="3612034"/>
                  </a:cubicBezTo>
                  <a:cubicBezTo>
                    <a:pt x="12558694" y="1373519"/>
                    <a:pt x="10163226" y="0"/>
                    <a:pt x="7576208" y="1157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8" name="Freeform 8"/>
            <p:cNvSpPr/>
            <p:nvPr/>
          </p:nvSpPr>
          <p:spPr>
            <a:xfrm>
              <a:off x="223301" y="551024"/>
              <a:ext cx="14393427" cy="13737979"/>
            </a:xfrm>
            <a:custGeom>
              <a:avLst/>
              <a:gdLst/>
              <a:ahLst/>
              <a:cxnLst/>
              <a:rect l="l" t="t" r="r" b="b"/>
              <a:pathLst>
                <a:path w="14393427" h="13737979">
                  <a:moveTo>
                    <a:pt x="7196714" y="10990"/>
                  </a:moveTo>
                  <a:cubicBezTo>
                    <a:pt x="4739280" y="0"/>
                    <a:pt x="2463801" y="1304719"/>
                    <a:pt x="1231900" y="3431106"/>
                  </a:cubicBezTo>
                  <a:cubicBezTo>
                    <a:pt x="0" y="5557493"/>
                    <a:pt x="0" y="8180487"/>
                    <a:pt x="1231900" y="10306874"/>
                  </a:cubicBezTo>
                  <a:cubicBezTo>
                    <a:pt x="2463801" y="12433261"/>
                    <a:pt x="4739280" y="13737980"/>
                    <a:pt x="7196714" y="13726990"/>
                  </a:cubicBezTo>
                  <a:cubicBezTo>
                    <a:pt x="9654147" y="13737980"/>
                    <a:pt x="11929626" y="12433261"/>
                    <a:pt x="13161527" y="10306874"/>
                  </a:cubicBezTo>
                  <a:cubicBezTo>
                    <a:pt x="14393427" y="8180487"/>
                    <a:pt x="14393427" y="5557493"/>
                    <a:pt x="13161527" y="3431106"/>
                  </a:cubicBezTo>
                  <a:cubicBezTo>
                    <a:pt x="11929626" y="1304719"/>
                    <a:pt x="9654147" y="0"/>
                    <a:pt x="7196714" y="10990"/>
                  </a:cubicBezTo>
                  <a:close/>
                </a:path>
              </a:pathLst>
            </a:custGeom>
            <a:blipFill>
              <a:blip r:embed="rId3" cstate="print"/>
              <a:stretch>
                <a:fillRect l="-5129" r="-5128"/>
              </a:stretch>
            </a:blipFill>
          </p:spPr>
        </p:sp>
      </p:grpSp>
      <p:sp>
        <p:nvSpPr>
          <p:cNvPr id="9" name="TextBox 9"/>
          <p:cNvSpPr txBox="1"/>
          <p:nvPr/>
        </p:nvSpPr>
        <p:spPr>
          <a:xfrm>
            <a:off x="9497614" y="594641"/>
            <a:ext cx="8790386" cy="11996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429"/>
              </a:lnSpc>
              <a:spcBef>
                <a:spcPct val="0"/>
              </a:spcBef>
            </a:pPr>
            <a:r>
              <a:rPr lang="en-US" sz="6021">
                <a:solidFill>
                  <a:srgbClr val="474925"/>
                </a:solidFill>
                <a:latin typeface="Agrandir"/>
                <a:ea typeface="Agrandir"/>
                <a:cs typeface="Agrandir"/>
                <a:sym typeface="Agrandir"/>
              </a:rPr>
              <a:t>Project Overview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780638" y="4129954"/>
            <a:ext cx="11760289" cy="41742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111"/>
              </a:lnSpc>
              <a:spcBef>
                <a:spcPct val="0"/>
              </a:spcBef>
            </a:pPr>
            <a:r>
              <a:rPr lang="en-US" sz="2937" dirty="0">
                <a:solidFill>
                  <a:srgbClr val="706925"/>
                </a:solidFill>
                <a:latin typeface="Agrandir"/>
                <a:ea typeface="Agrandir"/>
                <a:cs typeface="Agrandir"/>
                <a:sym typeface="Agrandir"/>
              </a:rPr>
              <a:t>1.INTRODUCTION</a:t>
            </a:r>
          </a:p>
          <a:p>
            <a:pPr algn="just">
              <a:lnSpc>
                <a:spcPts val="4111"/>
              </a:lnSpc>
              <a:spcBef>
                <a:spcPct val="0"/>
              </a:spcBef>
            </a:pPr>
            <a:r>
              <a:rPr lang="en-US" sz="2937" dirty="0">
                <a:solidFill>
                  <a:srgbClr val="706925"/>
                </a:solidFill>
                <a:latin typeface="Agrandir"/>
                <a:ea typeface="Agrandir"/>
                <a:cs typeface="Agrandir"/>
                <a:sym typeface="Agrandir"/>
              </a:rPr>
              <a:t>2.EXISTING PROJECTS</a:t>
            </a:r>
          </a:p>
          <a:p>
            <a:pPr algn="just">
              <a:lnSpc>
                <a:spcPts val="4111"/>
              </a:lnSpc>
              <a:spcBef>
                <a:spcPct val="0"/>
              </a:spcBef>
            </a:pPr>
            <a:r>
              <a:rPr lang="en-US" sz="2937" dirty="0">
                <a:solidFill>
                  <a:srgbClr val="706925"/>
                </a:solidFill>
                <a:latin typeface="Agrandir"/>
                <a:ea typeface="Agrandir"/>
                <a:cs typeface="Agrandir"/>
                <a:sym typeface="Agrandir"/>
              </a:rPr>
              <a:t>3.LITERATURE SURVEY TABLE</a:t>
            </a:r>
          </a:p>
          <a:p>
            <a:pPr algn="just">
              <a:lnSpc>
                <a:spcPts val="4111"/>
              </a:lnSpc>
              <a:spcBef>
                <a:spcPct val="0"/>
              </a:spcBef>
            </a:pPr>
            <a:r>
              <a:rPr lang="en-US" sz="2937" dirty="0">
                <a:solidFill>
                  <a:srgbClr val="706925"/>
                </a:solidFill>
                <a:latin typeface="Agrandir"/>
                <a:ea typeface="Agrandir"/>
                <a:cs typeface="Agrandir"/>
                <a:sym typeface="Agrandir"/>
              </a:rPr>
              <a:t>4.UNDERSTANDING METHODOLOGIES</a:t>
            </a:r>
          </a:p>
          <a:p>
            <a:pPr algn="just">
              <a:lnSpc>
                <a:spcPts val="4111"/>
              </a:lnSpc>
              <a:spcBef>
                <a:spcPct val="0"/>
              </a:spcBef>
            </a:pPr>
            <a:r>
              <a:rPr lang="en-US" sz="2937" dirty="0">
                <a:solidFill>
                  <a:srgbClr val="706925"/>
                </a:solidFill>
                <a:latin typeface="Agrandir"/>
                <a:ea typeface="Agrandir"/>
                <a:cs typeface="Agrandir"/>
                <a:sym typeface="Agrandir"/>
              </a:rPr>
              <a:t>5.OPTIMIZATION TECHNIQUES </a:t>
            </a:r>
          </a:p>
          <a:p>
            <a:pPr algn="just">
              <a:lnSpc>
                <a:spcPts val="4111"/>
              </a:lnSpc>
              <a:spcBef>
                <a:spcPct val="0"/>
              </a:spcBef>
            </a:pPr>
            <a:r>
              <a:rPr lang="en-US" sz="2937" dirty="0">
                <a:solidFill>
                  <a:srgbClr val="706925"/>
                </a:solidFill>
                <a:latin typeface="Agrandir"/>
                <a:ea typeface="Agrandir"/>
                <a:cs typeface="Agrandir"/>
                <a:sym typeface="Agrandir"/>
              </a:rPr>
              <a:t>6.SUMMARY OF DATASETS</a:t>
            </a:r>
          </a:p>
          <a:p>
            <a:pPr algn="just">
              <a:lnSpc>
                <a:spcPts val="4111"/>
              </a:lnSpc>
              <a:spcBef>
                <a:spcPct val="0"/>
              </a:spcBef>
            </a:pPr>
            <a:r>
              <a:rPr lang="en-US" sz="2937" dirty="0">
                <a:solidFill>
                  <a:srgbClr val="706925"/>
                </a:solidFill>
                <a:latin typeface="Agrandir"/>
                <a:ea typeface="Agrandir"/>
                <a:cs typeface="Agrandir"/>
                <a:sym typeface="Agrandir"/>
              </a:rPr>
              <a:t>7.EVALUTION METRICS</a:t>
            </a:r>
          </a:p>
          <a:p>
            <a:pPr algn="just">
              <a:lnSpc>
                <a:spcPts val="4111"/>
              </a:lnSpc>
              <a:spcBef>
                <a:spcPct val="0"/>
              </a:spcBef>
            </a:pPr>
            <a:r>
              <a:rPr lang="en-US" sz="2937" dirty="0">
                <a:solidFill>
                  <a:srgbClr val="706925"/>
                </a:solidFill>
                <a:latin typeface="Agrandir"/>
                <a:ea typeface="Agrandir"/>
                <a:cs typeface="Agrandir"/>
                <a:sym typeface="Agrandir"/>
              </a:rPr>
              <a:t>5.CONCLUSION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27106" y="5349588"/>
            <a:ext cx="14897082" cy="2864768"/>
            <a:chOff x="0" y="0"/>
            <a:chExt cx="2113321" cy="4064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13321" cy="406400"/>
            </a:xfrm>
            <a:custGeom>
              <a:avLst/>
              <a:gdLst/>
              <a:ahLst/>
              <a:cxnLst/>
              <a:rect l="l" t="t" r="r" b="b"/>
              <a:pathLst>
                <a:path w="2113321" h="406400">
                  <a:moveTo>
                    <a:pt x="1910121" y="0"/>
                  </a:moveTo>
                  <a:cubicBezTo>
                    <a:pt x="2022351" y="0"/>
                    <a:pt x="2113321" y="90970"/>
                    <a:pt x="2113321" y="203200"/>
                  </a:cubicBezTo>
                  <a:cubicBezTo>
                    <a:pt x="2113321" y="315430"/>
                    <a:pt x="2022351" y="406400"/>
                    <a:pt x="1910121" y="406400"/>
                  </a:cubicBezTo>
                  <a:lnTo>
                    <a:pt x="203200" y="406400"/>
                  </a:lnTo>
                  <a:cubicBezTo>
                    <a:pt x="90970" y="406400"/>
                    <a:pt x="0" y="315430"/>
                    <a:pt x="0" y="203200"/>
                  </a:cubicBezTo>
                  <a:cubicBezTo>
                    <a:pt x="0" y="90970"/>
                    <a:pt x="90970" y="0"/>
                    <a:pt x="203200" y="0"/>
                  </a:cubicBezTo>
                  <a:lnTo>
                    <a:pt x="1910121" y="0"/>
                  </a:lnTo>
                </a:path>
              </a:pathLst>
            </a:custGeom>
            <a:blipFill>
              <a:blip r:embed="rId3" cstate="print"/>
              <a:stretch>
                <a:fillRect t="-123228" b="-123228"/>
              </a:stretch>
            </a:blipFill>
            <a:ln w="28575" cap="sq">
              <a:solidFill>
                <a:srgbClr val="000000"/>
              </a:solidFill>
              <a:prstDash val="solid"/>
              <a:miter/>
            </a:ln>
          </p:spPr>
        </p:sp>
      </p:grpSp>
      <p:sp>
        <p:nvSpPr>
          <p:cNvPr id="4" name="TextBox 4"/>
          <p:cNvSpPr txBox="1"/>
          <p:nvPr/>
        </p:nvSpPr>
        <p:spPr>
          <a:xfrm>
            <a:off x="1310802" y="1986999"/>
            <a:ext cx="6576101" cy="11871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354"/>
              </a:lnSpc>
              <a:spcBef>
                <a:spcPct val="0"/>
              </a:spcBef>
            </a:pPr>
            <a:r>
              <a:rPr lang="en-US" sz="5967" b="1">
                <a:solidFill>
                  <a:srgbClr val="474925"/>
                </a:solidFill>
                <a:latin typeface="Agrandir Bold"/>
                <a:ea typeface="Agrandir Bold"/>
                <a:cs typeface="Agrandir Bold"/>
                <a:sym typeface="Agrandir Bold"/>
              </a:rPr>
              <a:t>INTRODUCTION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799516" y="1085683"/>
            <a:ext cx="9213586" cy="36538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63248" lvl="1" indent="-231624" algn="just">
              <a:lnSpc>
                <a:spcPts val="2360"/>
              </a:lnSpc>
              <a:buFont typeface="Arial"/>
              <a:buChar char="•"/>
            </a:pPr>
            <a:r>
              <a:rPr lang="en-US" sz="2145" b="1">
                <a:solidFill>
                  <a:srgbClr val="007A3F"/>
                </a:solidFill>
                <a:latin typeface="Agrandir Bold"/>
                <a:ea typeface="Agrandir Bold"/>
                <a:cs typeface="Agrandir Bold"/>
                <a:sym typeface="Agrandir Bold"/>
              </a:rPr>
              <a:t>A Crop Yield Predictor is a system that uses data like weather, soil, crop type, and farming practices to predict how much crop will be produced in a given area or season.</a:t>
            </a:r>
          </a:p>
          <a:p>
            <a:pPr algn="just">
              <a:lnSpc>
                <a:spcPts val="2360"/>
              </a:lnSpc>
            </a:pPr>
            <a:endParaRPr/>
          </a:p>
          <a:p>
            <a:pPr marL="463248" lvl="1" indent="-231624" algn="just">
              <a:lnSpc>
                <a:spcPts val="2360"/>
              </a:lnSpc>
              <a:buFont typeface="Arial"/>
              <a:buChar char="•"/>
            </a:pPr>
            <a:r>
              <a:rPr lang="en-US" sz="2145" b="1">
                <a:solidFill>
                  <a:srgbClr val="007A3F"/>
                </a:solidFill>
                <a:latin typeface="Agrandir Bold"/>
                <a:ea typeface="Agrandir Bold"/>
                <a:cs typeface="Agrandir Bold"/>
                <a:sym typeface="Agrandir Bold"/>
              </a:rPr>
              <a:t>It helps:</a:t>
            </a:r>
          </a:p>
          <a:p>
            <a:pPr algn="just">
              <a:lnSpc>
                <a:spcPts val="2360"/>
              </a:lnSpc>
            </a:pPr>
            <a:endParaRPr/>
          </a:p>
          <a:p>
            <a:pPr marL="463248" lvl="1" indent="-231624" algn="just">
              <a:lnSpc>
                <a:spcPts val="2360"/>
              </a:lnSpc>
              <a:buFont typeface="Arial"/>
              <a:buChar char="•"/>
            </a:pPr>
            <a:r>
              <a:rPr lang="en-US" sz="2145" b="1">
                <a:solidFill>
                  <a:srgbClr val="007A3F"/>
                </a:solidFill>
                <a:latin typeface="Agrandir Bold"/>
                <a:ea typeface="Agrandir Bold"/>
                <a:cs typeface="Agrandir Bold"/>
                <a:sym typeface="Agrandir Bold"/>
              </a:rPr>
              <a:t>Farmers plan better for harvesting, irrigation, and fertilizers.</a:t>
            </a:r>
          </a:p>
          <a:p>
            <a:pPr algn="just">
              <a:lnSpc>
                <a:spcPts val="2360"/>
              </a:lnSpc>
            </a:pPr>
            <a:endParaRPr/>
          </a:p>
          <a:p>
            <a:pPr marL="463248" lvl="1" indent="-231624" algn="just">
              <a:lnSpc>
                <a:spcPts val="2360"/>
              </a:lnSpc>
              <a:buFont typeface="Arial"/>
              <a:buChar char="•"/>
            </a:pPr>
            <a:r>
              <a:rPr lang="en-US" sz="2145" b="1">
                <a:solidFill>
                  <a:srgbClr val="007A3F"/>
                </a:solidFill>
                <a:latin typeface="Agrandir Bold"/>
                <a:ea typeface="Agrandir Bold"/>
                <a:cs typeface="Agrandir Bold"/>
                <a:sym typeface="Agrandir Bold"/>
              </a:rPr>
              <a:t>Governments make decisions about food supply and storage.</a:t>
            </a:r>
          </a:p>
          <a:p>
            <a:pPr algn="just">
              <a:lnSpc>
                <a:spcPts val="2360"/>
              </a:lnSpc>
            </a:pPr>
            <a:endParaRPr/>
          </a:p>
          <a:p>
            <a:pPr marL="463248" lvl="1" indent="-231624" algn="just">
              <a:lnSpc>
                <a:spcPts val="2360"/>
              </a:lnSpc>
              <a:buFont typeface="Arial"/>
              <a:buChar char="•"/>
            </a:pPr>
            <a:r>
              <a:rPr lang="en-US" sz="2145" b="1">
                <a:solidFill>
                  <a:srgbClr val="007A3F"/>
                </a:solidFill>
                <a:latin typeface="Agrandir Bold"/>
                <a:ea typeface="Agrandir Bold"/>
                <a:cs typeface="Agrandir Bold"/>
                <a:sym typeface="Agrandir Bold"/>
              </a:rPr>
              <a:t>Companies manage pricing, insurance, and distribution.</a:t>
            </a:r>
          </a:p>
          <a:p>
            <a:pPr algn="just">
              <a:lnSpc>
                <a:spcPts val="2360"/>
              </a:lnSpc>
            </a:pP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320709" y="723900"/>
            <a:ext cx="9646581" cy="7874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538"/>
              </a:lnSpc>
            </a:pPr>
            <a:r>
              <a:rPr lang="en-US" sz="5400" b="1" dirty="0">
                <a:solidFill>
                  <a:srgbClr val="D0A933"/>
                </a:solidFill>
                <a:latin typeface="Times New Roman" pitchFamily="18" charset="0"/>
                <a:ea typeface="ITC Benguiat"/>
                <a:cs typeface="Times New Roman" pitchFamily="18" charset="0"/>
                <a:sym typeface="ITC Benguiat"/>
              </a:rPr>
              <a:t>EXISTING </a:t>
            </a:r>
            <a:r>
              <a:rPr lang="en-US" sz="5400" b="1" dirty="0">
                <a:solidFill>
                  <a:srgbClr val="D0A933"/>
                </a:solidFill>
                <a:latin typeface="Times New Roman" pitchFamily="18" charset="0"/>
                <a:ea typeface="ITC Benguiat Bold"/>
                <a:cs typeface="Times New Roman" pitchFamily="18" charset="0"/>
                <a:sym typeface="ITC Benguiat Bold"/>
              </a:rPr>
              <a:t>PROJECTS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xmlns="" id="{061B43F3-0FD1-4B8F-3E3E-AEAB90405B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0620584"/>
              </p:ext>
            </p:extLst>
          </p:nvPr>
        </p:nvGraphicFramePr>
        <p:xfrm>
          <a:off x="2057400" y="2880518"/>
          <a:ext cx="13716000" cy="6966743"/>
        </p:xfrm>
        <a:graphic>
          <a:graphicData uri="http://schemas.openxmlformats.org/drawingml/2006/table">
            <a:tbl>
              <a:tblPr/>
              <a:tblGrid>
                <a:gridCol w="4572000">
                  <a:extLst>
                    <a:ext uri="{9D8B030D-6E8A-4147-A177-3AD203B41FA5}">
                      <a16:colId xmlns:a16="http://schemas.microsoft.com/office/drawing/2014/main" xmlns="" val="1478657087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xmlns="" val="2209974470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xmlns="" val="3960890541"/>
                    </a:ext>
                  </a:extLst>
                </a:gridCol>
              </a:tblGrid>
              <a:tr h="531629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20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Project Type</a:t>
                      </a:r>
                      <a:endParaRPr lang="en-IN" sz="200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47475" marR="47475" marT="31650" marB="3165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2000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Core AI/ML Function</a:t>
                      </a:r>
                      <a:endParaRPr lang="en-IN" sz="200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47475" marR="47475" marT="31650" marB="3165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2000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Drawbacks / Limitations (Concise)</a:t>
                      </a:r>
                      <a:endParaRPr lang="en-IN" sz="200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47475" marR="47475" marT="31650" marB="3165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553008471"/>
                  </a:ext>
                </a:extLst>
              </a:tr>
              <a:tr h="1836537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2000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Crop/Variety Recommendation System</a:t>
                      </a:r>
                      <a:endParaRPr lang="en-IN" sz="200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47475" marR="47475" marT="31650" marB="3165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20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Classification</a:t>
                      </a:r>
                      <a:r>
                        <a:rPr lang="en-US" sz="20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 (recommending the </a:t>
                      </a:r>
                      <a:r>
                        <a:rPr lang="en-US" sz="2000" i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best</a:t>
                      </a:r>
                      <a:r>
                        <a:rPr lang="en-US" sz="20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 crop)</a:t>
                      </a:r>
                    </a:p>
                  </a:txBody>
                  <a:tcPr marL="47475" marR="47475" marT="31650" marB="3165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200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* </a:t>
                      </a:r>
                      <a:r>
                        <a:rPr lang="en-US" sz="2000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Oversimplified:</a:t>
                      </a:r>
                      <a:r>
                        <a:rPr lang="en-US" sz="200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 General recommendations fail to capture </a:t>
                      </a:r>
                      <a:r>
                        <a:rPr lang="en-US" sz="2000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field-specific micro-variability</a:t>
                      </a:r>
                      <a:r>
                        <a:rPr lang="en-US" sz="200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. * </a:t>
                      </a:r>
                      <a:r>
                        <a:rPr lang="en-US" sz="2000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Market Risk:</a:t>
                      </a:r>
                      <a:r>
                        <a:rPr lang="en-US" sz="200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 Accuracy depends on highly </a:t>
                      </a:r>
                      <a:r>
                        <a:rPr lang="en-US" sz="2000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volatile and complex market price forecasts</a:t>
                      </a:r>
                      <a:r>
                        <a:rPr lang="en-US" sz="200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.</a:t>
                      </a:r>
                    </a:p>
                  </a:txBody>
                  <a:tcPr marL="47475" marR="47475" marT="31650" marB="3165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4059447499"/>
                  </a:ext>
                </a:extLst>
              </a:tr>
              <a:tr h="2271507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2000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Integrated Precision Farming Platforms</a:t>
                      </a:r>
                      <a:endParaRPr lang="en-IN" sz="200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47475" marR="47475" marT="31650" marB="3165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20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Full-stack prediction,</a:t>
                      </a:r>
                      <a:r>
                        <a:rPr lang="en-US" sz="20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 often using multiple models.</a:t>
                      </a:r>
                    </a:p>
                  </a:txBody>
                  <a:tcPr marL="47475" marR="47475" marT="31650" marB="3165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200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* </a:t>
                      </a:r>
                      <a:r>
                        <a:rPr lang="en-US" sz="2000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High Cost/Complexity:</a:t>
                      </a:r>
                      <a:r>
                        <a:rPr lang="en-US" sz="200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 Requires </a:t>
                      </a:r>
                      <a:r>
                        <a:rPr lang="en-US" sz="2000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expensive infrastructure (sensors/drones)</a:t>
                      </a:r>
                      <a:r>
                        <a:rPr lang="en-US" sz="200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 and </a:t>
                      </a:r>
                      <a:r>
                        <a:rPr lang="en-US" sz="2000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specialized expertise</a:t>
                      </a:r>
                      <a:r>
                        <a:rPr lang="en-US" sz="200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. * </a:t>
                      </a:r>
                      <a:r>
                        <a:rPr lang="en-US" sz="2000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Data Integration Issues:</a:t>
                      </a:r>
                      <a:r>
                        <a:rPr lang="en-US" sz="200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 Challenging to merge and standardize </a:t>
                      </a:r>
                      <a:r>
                        <a:rPr lang="en-US" sz="2000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diverse data streams</a:t>
                      </a:r>
                      <a:r>
                        <a:rPr lang="en-US" sz="200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 from multiple sources.</a:t>
                      </a:r>
                    </a:p>
                  </a:txBody>
                  <a:tcPr marL="47475" marR="47475" marT="31650" marB="3165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53246041"/>
                  </a:ext>
                </a:extLst>
              </a:tr>
              <a:tr h="2271507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2000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Specific Crop/Region Forecasting</a:t>
                      </a:r>
                      <a:endParaRPr lang="en-IN" sz="200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47475" marR="47475" marT="31650" marB="3165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2000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Regression</a:t>
                      </a:r>
                      <a:r>
                        <a:rPr lang="en-US" sz="200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 model tuned for a particular crop in a specific geographical area.</a:t>
                      </a:r>
                    </a:p>
                  </a:txBody>
                  <a:tcPr marL="47475" marR="47475" marT="31650" marB="3165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20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* </a:t>
                      </a:r>
                      <a:r>
                        <a:rPr lang="en-US" sz="20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Poor Transferability:</a:t>
                      </a:r>
                      <a:r>
                        <a:rPr lang="en-US" sz="20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 Models are </a:t>
                      </a:r>
                      <a:r>
                        <a:rPr lang="en-US" sz="20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not generalizable</a:t>
                      </a:r>
                      <a:r>
                        <a:rPr lang="en-US" sz="20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; they must be retrained for any new region or crop. * </a:t>
                      </a:r>
                      <a:r>
                        <a:rPr lang="en-US" sz="20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Brittle to Extremes:</a:t>
                      </a:r>
                      <a:r>
                        <a:rPr lang="en-US" sz="20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 Fails to accurately predict yield under </a:t>
                      </a:r>
                      <a:r>
                        <a:rPr lang="en-US" sz="20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unprecedented or extreme weather</a:t>
                      </a:r>
                      <a:r>
                        <a:rPr lang="en-US" sz="20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 conditions.</a:t>
                      </a:r>
                    </a:p>
                  </a:txBody>
                  <a:tcPr marL="47475" marR="47475" marT="31650" marB="3165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2491173238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xmlns="" id="{8E914653-74AC-4612-6A72-BC12B6C258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5190733"/>
              </p:ext>
            </p:extLst>
          </p:nvPr>
        </p:nvGraphicFramePr>
        <p:xfrm>
          <a:off x="1917290" y="2818617"/>
          <a:ext cx="14097000" cy="7034981"/>
        </p:xfrm>
        <a:graphic>
          <a:graphicData uri="http://schemas.openxmlformats.org/drawingml/2006/table">
            <a:tbl>
              <a:tblPr/>
              <a:tblGrid>
                <a:gridCol w="14097000">
                  <a:extLst>
                    <a:ext uri="{9D8B030D-6E8A-4147-A177-3AD203B41FA5}">
                      <a16:colId xmlns:a16="http://schemas.microsoft.com/office/drawing/2014/main" xmlns="" val="1026521874"/>
                    </a:ext>
                  </a:extLst>
                </a:gridCol>
              </a:tblGrid>
              <a:tr h="703498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607568721"/>
                  </a:ext>
                </a:extLst>
              </a:tr>
            </a:tbl>
          </a:graphicData>
        </a:graphic>
      </p:graphicFrame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xmlns="" id="{A88E6A4A-DE88-F048-8691-B1CAEEEE47F7}"/>
              </a:ext>
            </a:extLst>
          </p:cNvPr>
          <p:cNvCxnSpPr>
            <a:cxnSpLocks/>
          </p:cNvCxnSpPr>
          <p:nvPr/>
        </p:nvCxnSpPr>
        <p:spPr>
          <a:xfrm>
            <a:off x="6400799" y="2880518"/>
            <a:ext cx="0" cy="703498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xmlns="" id="{B40B1294-D9C4-B9D7-178E-6B05B1B43851}"/>
              </a:ext>
            </a:extLst>
          </p:cNvPr>
          <p:cNvCxnSpPr>
            <a:cxnSpLocks/>
          </p:cNvCxnSpPr>
          <p:nvPr/>
        </p:nvCxnSpPr>
        <p:spPr>
          <a:xfrm>
            <a:off x="11049000" y="2861187"/>
            <a:ext cx="0" cy="703498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xmlns="" id="{6B5C79AE-CD3F-C65B-0B34-A00255C48CC0}"/>
              </a:ext>
            </a:extLst>
          </p:cNvPr>
          <p:cNvCxnSpPr/>
          <p:nvPr/>
        </p:nvCxnSpPr>
        <p:spPr>
          <a:xfrm>
            <a:off x="1905000" y="3467100"/>
            <a:ext cx="14097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xmlns="" id="{5C6857BD-85F6-4C72-AD66-2236FF383015}"/>
              </a:ext>
            </a:extLst>
          </p:cNvPr>
          <p:cNvCxnSpPr>
            <a:cxnSpLocks/>
          </p:cNvCxnSpPr>
          <p:nvPr/>
        </p:nvCxnSpPr>
        <p:spPr>
          <a:xfrm flipV="1">
            <a:off x="1905000" y="5295899"/>
            <a:ext cx="14097000" cy="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xmlns="" id="{838A9EAF-CAF5-CEC9-7700-BA03133F1481}"/>
              </a:ext>
            </a:extLst>
          </p:cNvPr>
          <p:cNvCxnSpPr>
            <a:cxnSpLocks/>
          </p:cNvCxnSpPr>
          <p:nvPr/>
        </p:nvCxnSpPr>
        <p:spPr>
          <a:xfrm flipV="1">
            <a:off x="1874935" y="7543798"/>
            <a:ext cx="14097000" cy="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2514600" y="190500"/>
            <a:ext cx="13000469" cy="9978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454"/>
              </a:lnSpc>
            </a:pPr>
            <a:r>
              <a:rPr lang="en-US" sz="6600" b="1" i="1" spc="330" dirty="0">
                <a:solidFill>
                  <a:srgbClr val="0097B2"/>
                </a:solidFill>
                <a:latin typeface="Lato Bold Italics"/>
                <a:ea typeface="Lato Bold Italics"/>
                <a:cs typeface="Lato Bold Italics"/>
                <a:sym typeface="Lato Bold Italics"/>
              </a:rPr>
              <a:t>LITERATURE SURVEY TABLE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xmlns="" id="{E813432F-3C86-4A40-541F-7E68CF7D93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0325840"/>
              </p:ext>
            </p:extLst>
          </p:nvPr>
        </p:nvGraphicFramePr>
        <p:xfrm>
          <a:off x="2514600" y="2095500"/>
          <a:ext cx="13152870" cy="7505370"/>
        </p:xfrm>
        <a:graphic>
          <a:graphicData uri="http://schemas.openxmlformats.org/drawingml/2006/table">
            <a:tbl>
              <a:tblPr/>
              <a:tblGrid>
                <a:gridCol w="2192145">
                  <a:extLst>
                    <a:ext uri="{9D8B030D-6E8A-4147-A177-3AD203B41FA5}">
                      <a16:colId xmlns:a16="http://schemas.microsoft.com/office/drawing/2014/main" xmlns="" val="2440034626"/>
                    </a:ext>
                  </a:extLst>
                </a:gridCol>
                <a:gridCol w="2192145">
                  <a:extLst>
                    <a:ext uri="{9D8B030D-6E8A-4147-A177-3AD203B41FA5}">
                      <a16:colId xmlns:a16="http://schemas.microsoft.com/office/drawing/2014/main" xmlns="" val="3536487149"/>
                    </a:ext>
                  </a:extLst>
                </a:gridCol>
                <a:gridCol w="2192145">
                  <a:extLst>
                    <a:ext uri="{9D8B030D-6E8A-4147-A177-3AD203B41FA5}">
                      <a16:colId xmlns:a16="http://schemas.microsoft.com/office/drawing/2014/main" xmlns="" val="2683072484"/>
                    </a:ext>
                  </a:extLst>
                </a:gridCol>
                <a:gridCol w="2192145">
                  <a:extLst>
                    <a:ext uri="{9D8B030D-6E8A-4147-A177-3AD203B41FA5}">
                      <a16:colId xmlns:a16="http://schemas.microsoft.com/office/drawing/2014/main" xmlns="" val="3991545900"/>
                    </a:ext>
                  </a:extLst>
                </a:gridCol>
                <a:gridCol w="2192145">
                  <a:extLst>
                    <a:ext uri="{9D8B030D-6E8A-4147-A177-3AD203B41FA5}">
                      <a16:colId xmlns:a16="http://schemas.microsoft.com/office/drawing/2014/main" xmlns="" val="2835034905"/>
                    </a:ext>
                  </a:extLst>
                </a:gridCol>
                <a:gridCol w="2192145">
                  <a:extLst>
                    <a:ext uri="{9D8B030D-6E8A-4147-A177-3AD203B41FA5}">
                      <a16:colId xmlns:a16="http://schemas.microsoft.com/office/drawing/2014/main" xmlns="" val="2341893380"/>
                    </a:ext>
                  </a:extLst>
                </a:gridCol>
              </a:tblGrid>
              <a:tr h="3803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Year</a:t>
                      </a:r>
                    </a:p>
                  </a:txBody>
                  <a:tcPr marL="38033" marR="38033" marT="19017" marB="1901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Title</a:t>
                      </a:r>
                    </a:p>
                  </a:txBody>
                  <a:tcPr marL="38033" marR="38033" marT="19017" marB="1901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Methods &amp; techniques</a:t>
                      </a:r>
                    </a:p>
                  </a:txBody>
                  <a:tcPr marL="38033" marR="38033" marT="19017" marB="1901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Accuracy / Performance</a:t>
                      </a:r>
                    </a:p>
                  </a:txBody>
                  <a:tcPr marL="38033" marR="38033" marT="19017" marB="1901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Dataset used</a:t>
                      </a:r>
                    </a:p>
                  </a:txBody>
                  <a:tcPr marL="38033" marR="38033" marT="19017" marB="1901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Limitations</a:t>
                      </a:r>
                    </a:p>
                  </a:txBody>
                  <a:tcPr marL="38033" marR="38033" marT="19017" marB="1901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456287794"/>
                  </a:ext>
                </a:extLst>
              </a:tr>
              <a:tr h="11790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2024</a:t>
                      </a:r>
                    </a:p>
                  </a:txBody>
                  <a:tcPr marL="38033" marR="38033" marT="19017" marB="1901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000" dirty="0"/>
                        <a:t>Machine Learning-Based Crop Yield Prediction in South India: Performance Analysis of Various Models</a:t>
                      </a:r>
                    </a:p>
                  </a:txBody>
                  <a:tcPr marL="38033" marR="38033" marT="19017" marB="1901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Linear Regression, Gradient Boosting, Random Forest, Extra Trees</a:t>
                      </a:r>
                    </a:p>
                  </a:txBody>
                  <a:tcPr marL="38033" marR="38033" marT="19017" marB="1901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R² ≈ 0.9615; MAE = 21.06; RMSE = 33.99 for Extra Trees </a:t>
                      </a:r>
                      <a:r>
                        <a:rPr lang="en-US" sz="2000">
                          <a:hlinkClick r:id="rId2"/>
                        </a:rPr>
                        <a:t>MDPI</a:t>
                      </a:r>
                      <a:endParaRPr lang="en-US" sz="2000"/>
                    </a:p>
                  </a:txBody>
                  <a:tcPr marL="38033" marR="38033" marT="19017" marB="1901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 err="1"/>
                        <a:t>Soil+weather+crop</a:t>
                      </a:r>
                      <a:r>
                        <a:rPr lang="en-US" sz="2000" dirty="0"/>
                        <a:t> data for Indian states (rice, sorghum, cotton)</a:t>
                      </a:r>
                    </a:p>
                  </a:txBody>
                  <a:tcPr marL="38033" marR="38033" marT="19017" marB="1901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Region-specific; may not generalize outside studied states</a:t>
                      </a:r>
                    </a:p>
                  </a:txBody>
                  <a:tcPr marL="38033" marR="38033" marT="19017" marB="1901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778564745"/>
                  </a:ext>
                </a:extLst>
              </a:tr>
              <a:tr h="10649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2022</a:t>
                      </a:r>
                    </a:p>
                  </a:txBody>
                  <a:tcPr marL="38033" marR="38033" marT="19017" marB="1901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000"/>
                        <a:t>Crop Yield Prediction Using Machine Learning Models: Case of Irish Potato and Maize</a:t>
                      </a:r>
                    </a:p>
                  </a:txBody>
                  <a:tcPr marL="38033" marR="38033" marT="19017" marB="1901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Random Forest, SVR, Polynomial Regression</a:t>
                      </a:r>
                    </a:p>
                  </a:txBody>
                  <a:tcPr marL="38033" marR="38033" marT="19017" marB="1901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R² ≈ 0.867 (potato); 0.817 (maize) </a:t>
                      </a:r>
                      <a:r>
                        <a:rPr lang="en-IN" sz="2000" dirty="0">
                          <a:hlinkClick r:id="rId3"/>
                        </a:rPr>
                        <a:t>MDPI</a:t>
                      </a:r>
                      <a:endParaRPr lang="en-IN" sz="2000" dirty="0"/>
                    </a:p>
                  </a:txBody>
                  <a:tcPr marL="38033" marR="38033" marT="19017" marB="1901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Potato &amp; maize data (Rwanda) + weather variables</a:t>
                      </a:r>
                    </a:p>
                  </a:txBody>
                  <a:tcPr marL="38033" marR="38033" marT="19017" marB="1901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Only two crops; limited geographic scope</a:t>
                      </a:r>
                    </a:p>
                  </a:txBody>
                  <a:tcPr marL="38033" marR="38033" marT="19017" marB="1901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2416722386"/>
                  </a:ext>
                </a:extLst>
              </a:tr>
              <a:tr h="10649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2024</a:t>
                      </a:r>
                    </a:p>
                  </a:txBody>
                  <a:tcPr marL="38033" marR="38033" marT="19017" marB="1901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000"/>
                        <a:t>Prediction of Best Suitable Crop using Machine Learning Technique</a:t>
                      </a:r>
                    </a:p>
                  </a:txBody>
                  <a:tcPr marL="38033" marR="38033" marT="19017" marB="1901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Linear Regression, Random Forest, Gradient Boosting, Stacking/Voting ensembles</a:t>
                      </a:r>
                    </a:p>
                  </a:txBody>
                  <a:tcPr marL="38033" marR="38033" marT="19017" marB="1901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Highest R² and lowest RMSE/MAE for hybrid model HSM2 </a:t>
                      </a:r>
                      <a:r>
                        <a:rPr lang="en-US" sz="2000">
                          <a:hlinkClick r:id="rId4"/>
                        </a:rPr>
                        <a:t>IJISAE</a:t>
                      </a:r>
                      <a:endParaRPr lang="en-US" sz="2000"/>
                    </a:p>
                  </a:txBody>
                  <a:tcPr marL="38033" marR="38033" marT="19017" marB="1901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Agronomic + environmental factors dataset (soil, rainfall, temp)</a:t>
                      </a:r>
                    </a:p>
                  </a:txBody>
                  <a:tcPr marL="38033" marR="38033" marT="19017" marB="1901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Focus is partly on crop suitability then yield; still region limited</a:t>
                      </a:r>
                    </a:p>
                  </a:txBody>
                  <a:tcPr marL="38033" marR="38033" marT="19017" marB="1901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2351676771"/>
                  </a:ext>
                </a:extLst>
              </a:tr>
              <a:tr h="8367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2024</a:t>
                      </a:r>
                    </a:p>
                  </a:txBody>
                  <a:tcPr marL="38033" marR="38033" marT="19017" marB="1901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000" dirty="0"/>
                        <a:t>Naïve Bayes and Random Forest for Crop Yield Prediction</a:t>
                      </a:r>
                    </a:p>
                  </a:txBody>
                  <a:tcPr marL="38033" marR="38033" marT="19017" marB="1901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Naïve Bayes, Random Forest, KNN, Linear models</a:t>
                      </a:r>
                    </a:p>
                  </a:txBody>
                  <a:tcPr marL="38033" marR="38033" marT="19017" marB="1901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Demonstrated high effectiveness for yield prediction India (1997-2020) </a:t>
                      </a:r>
                      <a:r>
                        <a:rPr lang="en-US" sz="2000">
                          <a:hlinkClick r:id="rId5"/>
                        </a:rPr>
                        <a:t>arXiv</a:t>
                      </a:r>
                      <a:endParaRPr lang="en-US" sz="2000"/>
                    </a:p>
                  </a:txBody>
                  <a:tcPr marL="38033" marR="38033" marT="19017" marB="1901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Indian major crops &amp; environmental factors dataset</a:t>
                      </a:r>
                    </a:p>
                  </a:txBody>
                  <a:tcPr marL="38033" marR="38033" marT="19017" marB="1901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Some models simple; may not capture complex interactions</a:t>
                      </a:r>
                    </a:p>
                  </a:txBody>
                  <a:tcPr marL="38033" marR="38033" marT="19017" marB="1901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144116427"/>
                  </a:ext>
                </a:extLst>
              </a:tr>
            </a:tbl>
          </a:graphicData>
        </a:graphic>
      </p:graphicFrame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xmlns="" id="{62C40080-83D1-ED8D-4F47-BCC63198F3D9}"/>
              </a:ext>
            </a:extLst>
          </p:cNvPr>
          <p:cNvCxnSpPr>
            <a:cxnSpLocks/>
          </p:cNvCxnSpPr>
          <p:nvPr/>
        </p:nvCxnSpPr>
        <p:spPr>
          <a:xfrm>
            <a:off x="4038600" y="1931709"/>
            <a:ext cx="0" cy="765195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xmlns="" id="{4DF00206-3CDB-035B-C059-86DCECF3BA60}"/>
              </a:ext>
            </a:extLst>
          </p:cNvPr>
          <p:cNvCxnSpPr>
            <a:cxnSpLocks/>
          </p:cNvCxnSpPr>
          <p:nvPr/>
        </p:nvCxnSpPr>
        <p:spPr>
          <a:xfrm>
            <a:off x="6781800" y="1964893"/>
            <a:ext cx="0" cy="75438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xmlns="" id="{22F2CDF4-2C4D-20C2-4F1B-42FA6FB129E3}"/>
              </a:ext>
            </a:extLst>
          </p:cNvPr>
          <p:cNvCxnSpPr>
            <a:cxnSpLocks/>
          </p:cNvCxnSpPr>
          <p:nvPr/>
        </p:nvCxnSpPr>
        <p:spPr>
          <a:xfrm>
            <a:off x="8862670" y="2002993"/>
            <a:ext cx="122430" cy="75057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xmlns="" id="{73749DE3-D69E-D533-B7D9-9B2B98F1E7D5}"/>
              </a:ext>
            </a:extLst>
          </p:cNvPr>
          <p:cNvCxnSpPr>
            <a:cxnSpLocks/>
          </p:cNvCxnSpPr>
          <p:nvPr/>
        </p:nvCxnSpPr>
        <p:spPr>
          <a:xfrm>
            <a:off x="11201400" y="2002993"/>
            <a:ext cx="0" cy="74676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xmlns="" id="{D0D3069B-3FA8-C42E-9955-2476ABD09BA1}"/>
              </a:ext>
            </a:extLst>
          </p:cNvPr>
          <p:cNvCxnSpPr>
            <a:cxnSpLocks/>
          </p:cNvCxnSpPr>
          <p:nvPr/>
        </p:nvCxnSpPr>
        <p:spPr>
          <a:xfrm>
            <a:off x="13417701" y="2081981"/>
            <a:ext cx="0" cy="753486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xmlns="" id="{DDF03EFE-243E-039E-3414-957A56434ED9}"/>
              </a:ext>
            </a:extLst>
          </p:cNvPr>
          <p:cNvCxnSpPr>
            <a:cxnSpLocks/>
          </p:cNvCxnSpPr>
          <p:nvPr/>
        </p:nvCxnSpPr>
        <p:spPr>
          <a:xfrm flipV="1">
            <a:off x="2362200" y="1964893"/>
            <a:ext cx="13317560" cy="4376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xmlns="" id="{AA218431-01AB-0A91-9CDC-782F8DAB8A06}"/>
              </a:ext>
            </a:extLst>
          </p:cNvPr>
          <p:cNvCxnSpPr>
            <a:cxnSpLocks/>
          </p:cNvCxnSpPr>
          <p:nvPr/>
        </p:nvCxnSpPr>
        <p:spPr>
          <a:xfrm>
            <a:off x="2362200" y="2002993"/>
            <a:ext cx="0" cy="759787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xmlns="" id="{B99D527F-EF7A-251D-9B6E-8E76ABBDF9D6}"/>
              </a:ext>
            </a:extLst>
          </p:cNvPr>
          <p:cNvCxnSpPr>
            <a:cxnSpLocks/>
          </p:cNvCxnSpPr>
          <p:nvPr/>
        </p:nvCxnSpPr>
        <p:spPr>
          <a:xfrm>
            <a:off x="15679760" y="1964893"/>
            <a:ext cx="0" cy="761709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xmlns="" id="{75665897-3D95-E74B-84F4-1688CE05A370}"/>
              </a:ext>
            </a:extLst>
          </p:cNvPr>
          <p:cNvCxnSpPr>
            <a:cxnSpLocks/>
          </p:cNvCxnSpPr>
          <p:nvPr/>
        </p:nvCxnSpPr>
        <p:spPr>
          <a:xfrm flipV="1">
            <a:off x="2362200" y="9508693"/>
            <a:ext cx="13317560" cy="4608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xmlns="" id="{A6CB155A-6C5A-C714-B1FE-0266A407F57F}"/>
              </a:ext>
            </a:extLst>
          </p:cNvPr>
          <p:cNvCxnSpPr>
            <a:cxnSpLocks/>
          </p:cNvCxnSpPr>
          <p:nvPr/>
        </p:nvCxnSpPr>
        <p:spPr>
          <a:xfrm flipV="1">
            <a:off x="2326320" y="2762171"/>
            <a:ext cx="13317560" cy="4608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2954000" y="2171700"/>
            <a:ext cx="5186354" cy="7111769"/>
          </a:xfrm>
          <a:custGeom>
            <a:avLst/>
            <a:gdLst/>
            <a:ahLst/>
            <a:cxnLst/>
            <a:rect l="l" t="t" r="r" b="b"/>
            <a:pathLst>
              <a:path w="5186354" h="7975139">
                <a:moveTo>
                  <a:pt x="0" y="0"/>
                </a:moveTo>
                <a:lnTo>
                  <a:pt x="5186355" y="0"/>
                </a:lnTo>
                <a:lnTo>
                  <a:pt x="5186355" y="7975139"/>
                </a:lnTo>
                <a:lnTo>
                  <a:pt x="0" y="7975139"/>
                </a:lnTo>
                <a:lnTo>
                  <a:pt x="0" y="0"/>
                </a:lnTo>
                <a:close/>
              </a:path>
            </a:pathLst>
          </a:custGeom>
          <a:blipFill>
            <a:blip r:embed="rId2" cstate="print"/>
            <a:stretch>
              <a:fillRect l="-75" r="-2375"/>
            </a:stretch>
          </a:blipFill>
        </p:spPr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xmlns="" id="{C11C0CDA-29BC-A3C1-262D-5806ECBC88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6232986"/>
              </p:ext>
            </p:extLst>
          </p:nvPr>
        </p:nvGraphicFramePr>
        <p:xfrm>
          <a:off x="762000" y="2171700"/>
          <a:ext cx="10972800" cy="9286160"/>
        </p:xfrm>
        <a:graphic>
          <a:graphicData uri="http://schemas.openxmlformats.org/drawingml/2006/table">
            <a:tbl>
              <a:tblPr/>
              <a:tblGrid>
                <a:gridCol w="1219200">
                  <a:extLst>
                    <a:ext uri="{9D8B030D-6E8A-4147-A177-3AD203B41FA5}">
                      <a16:colId xmlns:a16="http://schemas.microsoft.com/office/drawing/2014/main" xmlns="" val="1138880584"/>
                    </a:ext>
                  </a:extLst>
                </a:gridCol>
                <a:gridCol w="4724400">
                  <a:extLst>
                    <a:ext uri="{9D8B030D-6E8A-4147-A177-3AD203B41FA5}">
                      <a16:colId xmlns:a16="http://schemas.microsoft.com/office/drawing/2014/main" xmlns="" val="2037803343"/>
                    </a:ext>
                  </a:extLst>
                </a:gridCol>
                <a:gridCol w="5029200">
                  <a:extLst>
                    <a:ext uri="{9D8B030D-6E8A-4147-A177-3AD203B41FA5}">
                      <a16:colId xmlns:a16="http://schemas.microsoft.com/office/drawing/2014/main" xmlns="" val="2651444286"/>
                    </a:ext>
                  </a:extLst>
                </a:gridCol>
              </a:tblGrid>
              <a:tr h="160599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8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     Year</a:t>
                      </a:r>
                      <a:endParaRPr lang="en-IN" sz="180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21900" marR="21900" marT="14600" marB="1460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8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                        Title</a:t>
                      </a:r>
                      <a:endParaRPr lang="en-IN" sz="180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21900" marR="21900" marT="14600" marB="1460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8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                         Methodology</a:t>
                      </a:r>
                      <a:endParaRPr lang="en-IN" sz="180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21900" marR="21900" marT="14600" marB="1460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714222488"/>
                  </a:ext>
                </a:extLst>
              </a:tr>
              <a:tr h="489096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8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2024</a:t>
                      </a:r>
                    </a:p>
                  </a:txBody>
                  <a:tcPr marL="21900" marR="21900" marT="14600" marB="1460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8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Machine Learning-Based Crop Yield Prediction in South India: Performance Analysis of Various Models</a:t>
                      </a:r>
                    </a:p>
                  </a:txBody>
                  <a:tcPr marL="21900" marR="21900" marT="14600" marB="1460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8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Compared four regression models (Extra Trees, Random Forest, Gradient Boosting, Linear Regression) with Extra Trees achieving the highest performance.</a:t>
                      </a:r>
                    </a:p>
                    <a:p>
                      <a:pPr rtl="0">
                        <a:buNone/>
                      </a:pPr>
                      <a:endParaRPr lang="en-US" sz="180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21900" marR="21900" marT="14600" marB="1460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7450660"/>
                  </a:ext>
                </a:extLst>
              </a:tr>
              <a:tr h="423397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8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2022</a:t>
                      </a:r>
                    </a:p>
                  </a:txBody>
                  <a:tcPr marL="21900" marR="21900" marT="14600" marB="1460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8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Crop Yield Prediction Using Machine Learning Models: Case of Irish Potato and Maize</a:t>
                      </a:r>
                    </a:p>
                  </a:txBody>
                  <a:tcPr marL="21900" marR="21900" marT="14600" marB="1460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8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Applied and compared Random Forest, Support Vector Regression (SVR), and Polynomial Regression models for two specific crops (potato and maize).</a:t>
                      </a:r>
                    </a:p>
                    <a:p>
                      <a:pPr rtl="0">
                        <a:buNone/>
                      </a:pPr>
                      <a:endParaRPr lang="en-US" sz="180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21900" marR="21900" marT="14600" marB="1460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62887154"/>
                  </a:ext>
                </a:extLst>
              </a:tr>
              <a:tr h="423397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80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2024</a:t>
                      </a:r>
                    </a:p>
                  </a:txBody>
                  <a:tcPr marL="21900" marR="21900" marT="14600" marB="1460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8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Prediction of Best Suitable Crop using Machine Learning Technique</a:t>
                      </a:r>
                    </a:p>
                  </a:txBody>
                  <a:tcPr marL="21900" marR="21900" marT="14600" marB="1460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8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Employed and optimized a Stacking/Voting Ensemble of multiple regression models (Linear, RF, GB) for both crop suitability and yield prediction.</a:t>
                      </a:r>
                    </a:p>
                    <a:p>
                      <a:pPr rtl="0">
                        <a:buNone/>
                      </a:pPr>
                      <a:endParaRPr lang="en-US" sz="180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21900" marR="21900" marT="14600" marB="1460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882582348"/>
                  </a:ext>
                </a:extLst>
              </a:tr>
              <a:tr h="489096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8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2022</a:t>
                      </a:r>
                    </a:p>
                  </a:txBody>
                  <a:tcPr marL="21900" marR="21900" marT="14600" marB="1460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80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Crop Recommendation and Yield Prediction Using Machine Learning Algorithms</a:t>
                      </a:r>
                    </a:p>
                  </a:txBody>
                  <a:tcPr marL="21900" marR="21900" marT="14600" marB="1460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8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Utilized distinct supervised machine learning models for a dual task: classification for crop recommendation and regression for yield prediction.</a:t>
                      </a:r>
                    </a:p>
                    <a:p>
                      <a:pPr rtl="0">
                        <a:buNone/>
                      </a:pPr>
                      <a:endParaRPr lang="en-US" sz="180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21900" marR="21900" marT="14600" marB="1460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849350550"/>
                  </a:ext>
                </a:extLst>
              </a:tr>
              <a:tr h="423397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80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2021</a:t>
                      </a:r>
                    </a:p>
                  </a:txBody>
                  <a:tcPr marL="21900" marR="21900" marT="14600" marB="1460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8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Crop Yield Prediction Using Machine Learning Algorithms </a:t>
                      </a:r>
                    </a:p>
                  </a:txBody>
                  <a:tcPr marL="21900" marR="21900" marT="14600" marB="1460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800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Compared the accuracy of simpler models, with Random Forest emerging as the best performer among Logistic Regression and Naive Bayes.</a:t>
                      </a:r>
                      <a:endParaRPr lang="en-US" sz="180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21900" marR="21900" marT="14600" marB="1460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4257847382"/>
                  </a:ext>
                </a:extLst>
              </a:tr>
              <a:tr h="489096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80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2023</a:t>
                      </a:r>
                    </a:p>
                  </a:txBody>
                  <a:tcPr marL="21900" marR="21900" marT="14600" marB="1460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8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A Survey on Crop Yield Prediction Using Machine Learning</a:t>
                      </a:r>
                    </a:p>
                  </a:txBody>
                  <a:tcPr marL="21900" marR="21900" marT="14600" marB="1460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800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Conducted a comprehensive review, comparing the application of fundamental machine learning algorithms (KNN, DT, NB, SVM) across various Indian datasets.</a:t>
                      </a:r>
                      <a:endParaRPr lang="en-US" sz="180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21900" marR="21900" marT="14600" marB="1460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2432055944"/>
                  </a:ext>
                </a:extLst>
              </a:tr>
              <a:tr h="423397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80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2022</a:t>
                      </a:r>
                    </a:p>
                  </a:txBody>
                  <a:tcPr marL="21900" marR="21900" marT="14600" marB="1460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8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Agriculture Crop Yield Prediction Using ML</a:t>
                      </a:r>
                    </a:p>
                  </a:txBody>
                  <a:tcPr marL="21900" marR="21900" marT="14600" marB="1460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8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Employed various unspecified standard ML regression models to predict crop yield based on generic agronomic and weather datasets.</a:t>
                      </a:r>
                      <a:endParaRPr lang="en-US" sz="180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21900" marR="21900" marT="14600" marB="1460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236062034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2EB77867-3AB8-47E3-7BCD-01A5D3C91603}"/>
              </a:ext>
            </a:extLst>
          </p:cNvPr>
          <p:cNvSpPr txBox="1"/>
          <p:nvPr/>
        </p:nvSpPr>
        <p:spPr>
          <a:xfrm>
            <a:off x="1066800" y="342900"/>
            <a:ext cx="15849600" cy="9575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7355"/>
              </a:lnSpc>
            </a:pPr>
            <a:r>
              <a:rPr lang="en-US" sz="4400" dirty="0">
                <a:solidFill>
                  <a:srgbClr val="FF914D"/>
                </a:solidFill>
                <a:latin typeface="Copperplate Gothic 32 AB"/>
                <a:ea typeface="Copperplate Gothic 32 AB"/>
                <a:cs typeface="Copperplate Gothic 32 AB"/>
                <a:sym typeface="Copperplate Gothic 32 AB"/>
              </a:rPr>
              <a:t>UNDERSTANDING METHODOLOGIES</a:t>
            </a:r>
            <a:r>
              <a:rPr lang="en-US" sz="4400" dirty="0">
                <a:solidFill>
                  <a:srgbClr val="EFE131"/>
                </a:solidFill>
                <a:latin typeface="Copperplate Gothic 32 AB"/>
                <a:ea typeface="Copperplate Gothic 32 AB"/>
                <a:cs typeface="Copperplate Gothic 32 AB"/>
                <a:sym typeface="Copperplate Gothic 32 AB"/>
              </a:rPr>
              <a:t>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xmlns="" id="{D81BE422-0158-AD3A-8AC8-876B0A26D8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xmlns="" id="{581CCF39-2B33-2105-AFFF-55045A7745AF}"/>
              </a:ext>
            </a:extLst>
          </p:cNvPr>
          <p:cNvSpPr txBox="1"/>
          <p:nvPr/>
        </p:nvSpPr>
        <p:spPr>
          <a:xfrm>
            <a:off x="-26504" y="723900"/>
            <a:ext cx="8382000" cy="109004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454"/>
              </a:lnSpc>
            </a:pPr>
            <a:r>
              <a:rPr lang="en-US" sz="4000" b="1" i="1" spc="330" dirty="0">
                <a:solidFill>
                  <a:srgbClr val="0097B2"/>
                </a:solidFill>
                <a:latin typeface="Times New Roman" pitchFamily="18" charset="0"/>
                <a:ea typeface="Lato Bold Italics"/>
                <a:cs typeface="Times New Roman" pitchFamily="18" charset="0"/>
                <a:sym typeface="Lato Bold Italics"/>
              </a:rPr>
              <a:t>OPTIMIZATION TECHNIQUES</a:t>
            </a:r>
          </a:p>
        </p:txBody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xmlns="" id="{94D1CFA6-EB8F-6459-6F51-43540FFE8AE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991600" y="49911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62CB23A9-D636-F767-5631-A2D5CE0E365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226" t="14848" r="3226" b="4415"/>
          <a:stretch>
            <a:fillRect/>
          </a:stretch>
        </p:blipFill>
        <p:spPr>
          <a:xfrm>
            <a:off x="685800" y="2247900"/>
            <a:ext cx="6629400" cy="6629400"/>
          </a:xfrm>
          <a:prstGeom prst="rect">
            <a:avLst/>
          </a:prstGeom>
        </p:spPr>
      </p:pic>
      <p:graphicFrame>
        <p:nvGraphicFramePr>
          <p:cNvPr id="13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7333996"/>
              </p:ext>
            </p:extLst>
          </p:nvPr>
        </p:nvGraphicFramePr>
        <p:xfrm>
          <a:off x="8991600" y="3048000"/>
          <a:ext cx="8305800" cy="5029200"/>
        </p:xfrm>
        <a:graphic>
          <a:graphicData uri="http://schemas.openxmlformats.org/drawingml/2006/table">
            <a:tbl>
              <a:tblPr/>
              <a:tblGrid>
                <a:gridCol w="41529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41529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568960">
                <a:tc>
                  <a:txBody>
                    <a:bodyPr/>
                    <a:lstStyle/>
                    <a:p>
                      <a:r>
                        <a:rPr lang="en-US" sz="2400" b="1" dirty="0">
                          <a:latin typeface="Times New Roman" pitchFamily="18" charset="0"/>
                          <a:cs typeface="Times New Roman" pitchFamily="18" charset="0"/>
                        </a:rPr>
                        <a:t>Gap (The Problem)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1" dirty="0">
                          <a:latin typeface="Times New Roman" pitchFamily="18" charset="0"/>
                          <a:cs typeface="Times New Roman" pitchFamily="18" charset="0"/>
                        </a:rPr>
                        <a:t>Un-addressed Objective (Our Solution)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1849120">
                <a:tc>
                  <a:txBody>
                    <a:bodyPr/>
                    <a:lstStyle/>
                    <a:p>
                      <a:r>
                        <a:rPr lang="en-US" sz="2400" b="1" dirty="0">
                          <a:latin typeface="Times New Roman" pitchFamily="18" charset="0"/>
                          <a:cs typeface="Times New Roman" pitchFamily="18" charset="0"/>
                        </a:rPr>
                        <a:t>1. Not Working Everywhere</a:t>
                      </a:r>
                      <a:r>
                        <a:rPr lang="en-US" sz="2400" dirty="0">
                          <a:latin typeface="Times New Roman" pitchFamily="18" charset="0"/>
                          <a:cs typeface="Times New Roman" pitchFamily="18" charset="0"/>
                        </a:rPr>
                        <a:t> (Poor Generalizability &amp; Region-Specific Models)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 pitchFamily="18" charset="0"/>
                          <a:cs typeface="Times New Roman" pitchFamily="18" charset="0"/>
                        </a:rPr>
                        <a:t>We will build one </a:t>
                      </a:r>
                      <a:r>
                        <a:rPr lang="en-US" sz="2400" b="1" dirty="0">
                          <a:latin typeface="Times New Roman" pitchFamily="18" charset="0"/>
                          <a:cs typeface="Times New Roman" pitchFamily="18" charset="0"/>
                        </a:rPr>
                        <a:t>smart, combined model</a:t>
                      </a:r>
                      <a:r>
                        <a:rPr lang="en-US" sz="2400" dirty="0">
                          <a:latin typeface="Times New Roman" pitchFamily="18" charset="0"/>
                          <a:cs typeface="Times New Roman" pitchFamily="18" charset="0"/>
                        </a:rPr>
                        <a:t> (Stacking/Voting Ensemble) that works accurately for </a:t>
                      </a:r>
                      <a:r>
                        <a:rPr lang="en-US" sz="2400" b="1" dirty="0">
                          <a:latin typeface="Times New Roman" pitchFamily="18" charset="0"/>
                          <a:cs typeface="Times New Roman" pitchFamily="18" charset="0"/>
                        </a:rPr>
                        <a:t>many different crops and regions</a:t>
                      </a:r>
                      <a:r>
                        <a:rPr lang="en-US" sz="2400" dirty="0">
                          <a:latin typeface="Times New Roman" pitchFamily="18" charset="0"/>
                          <a:cs typeface="Times New Roman" pitchFamily="18" charset="0"/>
                        </a:rPr>
                        <a:t>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1849120">
                <a:tc>
                  <a:txBody>
                    <a:bodyPr/>
                    <a:lstStyle/>
                    <a:p>
                      <a:r>
                        <a:rPr lang="en-US" sz="2400" b="1">
                          <a:latin typeface="Times New Roman" pitchFamily="18" charset="0"/>
                          <a:cs typeface="Times New Roman" pitchFamily="18" charset="0"/>
                        </a:rPr>
                        <a:t>2. Breaking Down in Bad Weather</a:t>
                      </a:r>
                      <a:r>
                        <a:rPr lang="en-US" sz="2400">
                          <a:latin typeface="Times New Roman" pitchFamily="18" charset="0"/>
                          <a:cs typeface="Times New Roman" pitchFamily="18" charset="0"/>
                        </a:rPr>
                        <a:t> (Model Brittleness to Extreme Conditions)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 pitchFamily="18" charset="0"/>
                          <a:cs typeface="Times New Roman" pitchFamily="18" charset="0"/>
                        </a:rPr>
                        <a:t>We will make the model </a:t>
                      </a:r>
                      <a:r>
                        <a:rPr lang="en-US" sz="2400" b="1" dirty="0">
                          <a:latin typeface="Times New Roman" pitchFamily="18" charset="0"/>
                          <a:cs typeface="Times New Roman" pitchFamily="18" charset="0"/>
                        </a:rPr>
                        <a:t>much tougher</a:t>
                      </a:r>
                      <a:r>
                        <a:rPr lang="en-US" sz="2400" dirty="0">
                          <a:latin typeface="Times New Roman" pitchFamily="18" charset="0"/>
                          <a:cs typeface="Times New Roman" pitchFamily="18" charset="0"/>
                        </a:rPr>
                        <a:t> by giving it advanced historical data and using the </a:t>
                      </a:r>
                      <a:r>
                        <a:rPr lang="en-US" sz="2400" b="1" dirty="0">
                          <a:latin typeface="Times New Roman" pitchFamily="18" charset="0"/>
                          <a:cs typeface="Times New Roman" pitchFamily="18" charset="0"/>
                        </a:rPr>
                        <a:t>Random Forest</a:t>
                      </a:r>
                      <a:r>
                        <a:rPr lang="en-US" sz="2400" dirty="0">
                          <a:latin typeface="Times New Roman" pitchFamily="18" charset="0"/>
                          <a:cs typeface="Times New Roman" pitchFamily="18" charset="0"/>
                        </a:rPr>
                        <a:t> method to handle extreme weather effects better.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</a:tbl>
          </a:graphicData>
        </a:graphic>
      </p:graphicFrame>
      <p:sp>
        <p:nvSpPr>
          <p:cNvPr id="14" name="Rectangle 13"/>
          <p:cNvSpPr/>
          <p:nvPr/>
        </p:nvSpPr>
        <p:spPr>
          <a:xfrm>
            <a:off x="12646510" y="1028700"/>
            <a:ext cx="2320828" cy="109023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ts val="8454"/>
              </a:lnSpc>
            </a:pPr>
            <a:r>
              <a:rPr lang="en-US" sz="6000" b="1" i="1" spc="330" dirty="0">
                <a:solidFill>
                  <a:srgbClr val="0097B2"/>
                </a:solidFill>
                <a:latin typeface="Times New Roman" pitchFamily="18" charset="0"/>
                <a:ea typeface="Lato Bold Italics"/>
                <a:cs typeface="Times New Roman" pitchFamily="18" charset="0"/>
                <a:sym typeface="Lato Bold Italics"/>
              </a:rPr>
              <a:t>GAPS</a:t>
            </a:r>
          </a:p>
        </p:txBody>
      </p:sp>
    </p:spTree>
    <p:extLst>
      <p:ext uri="{BB962C8B-B14F-4D97-AF65-F5344CB8AC3E}">
        <p14:creationId xmlns:p14="http://schemas.microsoft.com/office/powerpoint/2010/main" val="38227104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3">
            <a:extLst>
              <a:ext uri="{FF2B5EF4-FFF2-40B4-BE49-F238E27FC236}">
                <a16:creationId xmlns:a16="http://schemas.microsoft.com/office/drawing/2014/main" xmlns="" id="{033DD42A-3195-D875-618C-664475074256}"/>
              </a:ext>
            </a:extLst>
          </p:cNvPr>
          <p:cNvSpPr txBox="1"/>
          <p:nvPr/>
        </p:nvSpPr>
        <p:spPr>
          <a:xfrm>
            <a:off x="2286000" y="190500"/>
            <a:ext cx="13000469" cy="9978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54"/>
              </a:lnSpc>
            </a:pPr>
            <a:r>
              <a:rPr lang="en-US" sz="6600" b="1" i="1" spc="330" dirty="0">
                <a:solidFill>
                  <a:srgbClr val="0097B2"/>
                </a:solidFill>
                <a:latin typeface="Lato Bold Italics"/>
                <a:ea typeface="Lato Bold Italics"/>
                <a:cs typeface="Lato Bold Italics"/>
                <a:sym typeface="Lato Bold Italics"/>
              </a:rPr>
              <a:t>Summary of datasets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xmlns="" id="{58447CC6-111C-C8CC-0093-6228013304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8861361"/>
              </p:ext>
            </p:extLst>
          </p:nvPr>
        </p:nvGraphicFramePr>
        <p:xfrm>
          <a:off x="1295400" y="1409701"/>
          <a:ext cx="16535400" cy="8357603"/>
        </p:xfrm>
        <a:graphic>
          <a:graphicData uri="http://schemas.openxmlformats.org/drawingml/2006/table">
            <a:tbl>
              <a:tblPr/>
              <a:tblGrid>
                <a:gridCol w="3307080">
                  <a:extLst>
                    <a:ext uri="{9D8B030D-6E8A-4147-A177-3AD203B41FA5}">
                      <a16:colId xmlns:a16="http://schemas.microsoft.com/office/drawing/2014/main" xmlns="" val="1219208245"/>
                    </a:ext>
                  </a:extLst>
                </a:gridCol>
                <a:gridCol w="3307080">
                  <a:extLst>
                    <a:ext uri="{9D8B030D-6E8A-4147-A177-3AD203B41FA5}">
                      <a16:colId xmlns:a16="http://schemas.microsoft.com/office/drawing/2014/main" xmlns="" val="4081957123"/>
                    </a:ext>
                  </a:extLst>
                </a:gridCol>
                <a:gridCol w="3307080">
                  <a:extLst>
                    <a:ext uri="{9D8B030D-6E8A-4147-A177-3AD203B41FA5}">
                      <a16:colId xmlns:a16="http://schemas.microsoft.com/office/drawing/2014/main" xmlns="" val="599035145"/>
                    </a:ext>
                  </a:extLst>
                </a:gridCol>
                <a:gridCol w="2880360">
                  <a:extLst>
                    <a:ext uri="{9D8B030D-6E8A-4147-A177-3AD203B41FA5}">
                      <a16:colId xmlns:a16="http://schemas.microsoft.com/office/drawing/2014/main" xmlns="" val="390835678"/>
                    </a:ext>
                  </a:extLst>
                </a:gridCol>
                <a:gridCol w="3733800">
                  <a:extLst>
                    <a:ext uri="{9D8B030D-6E8A-4147-A177-3AD203B41FA5}">
                      <a16:colId xmlns:a16="http://schemas.microsoft.com/office/drawing/2014/main" xmlns="" val="3035260874"/>
                    </a:ext>
                  </a:extLst>
                </a:gridCol>
              </a:tblGrid>
              <a:tr h="734411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24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Dataset Name</a:t>
                      </a:r>
                      <a:endParaRPr lang="en-IN" sz="240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41021" marR="41021" marT="27347" marB="27347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2400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No. of Records</a:t>
                      </a:r>
                      <a:endParaRPr lang="en-IN" sz="240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41021" marR="41021" marT="27347" marB="27347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2400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No. of Features</a:t>
                      </a:r>
                      <a:endParaRPr lang="en-IN" sz="240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41021" marR="41021" marT="27347" marB="27347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2400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Balance Check Result</a:t>
                      </a:r>
                      <a:endParaRPr lang="en-IN" sz="240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41021" marR="41021" marT="27347" marB="27347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2400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Key Imbalance Details</a:t>
                      </a:r>
                      <a:endParaRPr lang="en-IN" sz="240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41021" marR="41021" marT="27347" marB="27347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88725385"/>
                  </a:ext>
                </a:extLst>
              </a:tr>
              <a:tr h="2120903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2400" b="1" dirty="0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crop_yield.csv</a:t>
                      </a:r>
                      <a:r>
                        <a:rPr lang="en-US" sz="24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 (Aggregated Yield)</a:t>
                      </a:r>
                    </a:p>
                  </a:txBody>
                  <a:tcPr marL="41021" marR="41021" marT="27347" marB="27347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24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19,689</a:t>
                      </a:r>
                    </a:p>
                  </a:txBody>
                  <a:tcPr marL="41021" marR="41021" marT="27347" marB="27347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240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10</a:t>
                      </a:r>
                    </a:p>
                  </a:txBody>
                  <a:tcPr marL="41021" marR="41021" marT="27347" marB="27347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2400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Generally Unbalanced</a:t>
                      </a:r>
                      <a:endParaRPr lang="en-IN" sz="240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41021" marR="41021" marT="27347" marB="27347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24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55 unique crop types. The most frequent crop (Rice) accounts for </a:t>
                      </a:r>
                      <a:r>
                        <a:rPr lang="en-US" sz="2400" dirty="0" err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approx</a:t>
                      </a:r>
                      <a:r>
                        <a:rPr lang="en-US" sz="24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 6% of the records, indicating high crop diversity.</a:t>
                      </a:r>
                    </a:p>
                  </a:txBody>
                  <a:tcPr marL="41021" marR="41021" marT="27347" marB="27347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255153593"/>
                  </a:ext>
                </a:extLst>
              </a:tr>
              <a:tr h="2442712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2400" b="1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indiancrop_dataset.csv</a:t>
                      </a:r>
                      <a:r>
                        <a:rPr lang="en-IN" sz="240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 (Recommendation/ML)</a:t>
                      </a:r>
                    </a:p>
                  </a:txBody>
                  <a:tcPr marL="41021" marR="41021" marT="27347" marB="27347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240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2,200</a:t>
                      </a:r>
                    </a:p>
                  </a:txBody>
                  <a:tcPr marL="41021" marR="41021" marT="27347" marB="27347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240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10</a:t>
                      </a:r>
                    </a:p>
                  </a:txBody>
                  <a:tcPr marL="41021" marR="41021" marT="27347" marB="27347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2400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Generally Unbalanced</a:t>
                      </a:r>
                      <a:endParaRPr lang="en-IN" sz="240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41021" marR="41021" marT="27347" marB="27347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24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22 unique crop types. The top classes have </a:t>
                      </a:r>
                      <a:r>
                        <a:rPr lang="en-US" sz="2400" dirty="0" err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approx</a:t>
                      </a:r>
                      <a:r>
                        <a:rPr lang="en-US" sz="24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 100$ records each, representing 5% per class. This is a relatively structured split.</a:t>
                      </a:r>
                    </a:p>
                  </a:txBody>
                  <a:tcPr marL="41021" marR="41021" marT="27347" marB="27347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2278695148"/>
                  </a:ext>
                </a:extLst>
              </a:tr>
              <a:tr h="3007774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2400" b="1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Crop_recommendation.csv</a:t>
                      </a:r>
                      <a:r>
                        <a:rPr lang="en-IN" sz="240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 (Recommendation)</a:t>
                      </a:r>
                    </a:p>
                  </a:txBody>
                  <a:tcPr marL="41021" marR="41021" marT="27347" marB="27347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24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1,400</a:t>
                      </a:r>
                    </a:p>
                  </a:txBody>
                  <a:tcPr marL="41021" marR="41021" marT="27347" marB="27347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240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6</a:t>
                      </a:r>
                    </a:p>
                  </a:txBody>
                  <a:tcPr marL="41021" marR="41021" marT="27347" marB="27347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2400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Potentially Imbalanced</a:t>
                      </a:r>
                      <a:endParaRPr lang="en-IN" sz="240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41021" marR="41021" marT="27347" marB="27347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24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13 unique crop types. The most frequent class (</a:t>
                      </a:r>
                      <a:r>
                        <a:rPr lang="en-US" sz="2400" dirty="0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maize</a:t>
                      </a:r>
                      <a:r>
                        <a:rPr lang="en-US" sz="24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) accounts for 14% of records, showing a more uniform distribution than the larger production datasets.</a:t>
                      </a:r>
                    </a:p>
                  </a:txBody>
                  <a:tcPr marL="41021" marR="41021" marT="27347" marB="27347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5440766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260473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3">
            <a:extLst>
              <a:ext uri="{FF2B5EF4-FFF2-40B4-BE49-F238E27FC236}">
                <a16:creationId xmlns:a16="http://schemas.microsoft.com/office/drawing/2014/main" xmlns="" id="{17F12E0D-2D7B-41E7-5983-A25DB3F5CDF7}"/>
              </a:ext>
            </a:extLst>
          </p:cNvPr>
          <p:cNvSpPr txBox="1"/>
          <p:nvPr/>
        </p:nvSpPr>
        <p:spPr>
          <a:xfrm>
            <a:off x="2286000" y="190500"/>
            <a:ext cx="13000469" cy="9267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54"/>
              </a:lnSpc>
            </a:pPr>
            <a:r>
              <a:rPr lang="en-US" sz="4000" b="1" i="1" spc="330" dirty="0">
                <a:solidFill>
                  <a:srgbClr val="0097B2"/>
                </a:solidFill>
                <a:latin typeface="Lato Bold Italics"/>
                <a:ea typeface="Lato Bold Italics"/>
                <a:cs typeface="Lato Bold Italics"/>
                <a:sym typeface="Lato Bold Italics"/>
              </a:rPr>
              <a:t>EVALUTION METRICS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xmlns="" id="{8DD31B8C-6CDD-F77B-52F0-1823DEDDD2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9854252"/>
              </p:ext>
            </p:extLst>
          </p:nvPr>
        </p:nvGraphicFramePr>
        <p:xfrm>
          <a:off x="762000" y="1790700"/>
          <a:ext cx="6019800" cy="7604918"/>
        </p:xfrm>
        <a:graphic>
          <a:graphicData uri="http://schemas.openxmlformats.org/drawingml/2006/table">
            <a:tbl>
              <a:tblPr/>
              <a:tblGrid>
                <a:gridCol w="2006600">
                  <a:extLst>
                    <a:ext uri="{9D8B030D-6E8A-4147-A177-3AD203B41FA5}">
                      <a16:colId xmlns:a16="http://schemas.microsoft.com/office/drawing/2014/main" xmlns="" val="3465357006"/>
                    </a:ext>
                  </a:extLst>
                </a:gridCol>
                <a:gridCol w="2006600">
                  <a:extLst>
                    <a:ext uri="{9D8B030D-6E8A-4147-A177-3AD203B41FA5}">
                      <a16:colId xmlns:a16="http://schemas.microsoft.com/office/drawing/2014/main" xmlns="" val="437447444"/>
                    </a:ext>
                  </a:extLst>
                </a:gridCol>
                <a:gridCol w="2006600">
                  <a:extLst>
                    <a:ext uri="{9D8B030D-6E8A-4147-A177-3AD203B41FA5}">
                      <a16:colId xmlns:a16="http://schemas.microsoft.com/office/drawing/2014/main" xmlns="" val="239564017"/>
                    </a:ext>
                  </a:extLst>
                </a:gridCol>
              </a:tblGrid>
              <a:tr h="1037034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2000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Dataset</a:t>
                      </a:r>
                      <a:endParaRPr lang="en-IN" sz="200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2000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Problem Type</a:t>
                      </a:r>
                      <a:endParaRPr lang="en-IN" sz="200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2000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Recommended Metrics</a:t>
                      </a:r>
                      <a:endParaRPr lang="en-IN" sz="200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7231109"/>
                  </a:ext>
                </a:extLst>
              </a:tr>
              <a:tr h="2333327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2000" b="1" dirty="0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crop_yield.csv</a:t>
                      </a:r>
                      <a:r>
                        <a:rPr lang="en-IN" sz="20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 (Regression)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20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Yield Prediction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20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Weighted F1- Score (Primary), $\</a:t>
                      </a:r>
                      <a:r>
                        <a:rPr lang="en-IN" sz="2000" dirty="0" err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mathbf</a:t>
                      </a:r>
                      <a:r>
                        <a:rPr lang="en-IN" sz="20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{RMSE}$ (Error Magnitude), MAE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965109530"/>
                  </a:ext>
                </a:extLst>
              </a:tr>
              <a:tr h="2333327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2000" b="1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Crop_recommendation.csv</a:t>
                      </a:r>
                      <a:r>
                        <a:rPr lang="en-IN" sz="200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 (Classification)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200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Crop Type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20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Weighted F1-Score}$ (Primary), Accuracy, Confusion Matrix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180504269"/>
                  </a:ext>
                </a:extLst>
              </a:tr>
              <a:tr h="190123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2000" b="1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Chemicals and crop damage.csv</a:t>
                      </a:r>
                      <a:r>
                        <a:rPr lang="en-US" sz="200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 (Classification)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200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Damage Severity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20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Weighted F1-Score}$ (Primary), Cohen's Kappa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356273404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E734E34C-7948-E9F5-28F8-1CF1ED700053}"/>
              </a:ext>
            </a:extLst>
          </p:cNvPr>
          <p:cNvSpPr txBox="1"/>
          <p:nvPr/>
        </p:nvSpPr>
        <p:spPr>
          <a:xfrm>
            <a:off x="11277600" y="2400300"/>
            <a:ext cx="6096000" cy="5940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Deep Data Fusion &amp; Feature Engineering: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Align all data (Crop, Rain, Chem) spatially/temporally; engineer features like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Yield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Seasonal Rainfall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and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Lagged Variables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Advanced Ensemble Modeling: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Use 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XGBoost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/Random Forest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a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Stacking Ensemble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maximize non-linear prediction accuracy.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Mandatory Time-Series Validation: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Implement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Rolling Origin Cross-Validation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validate model performance on future data and prevent time-based data leakage.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Normalized Regression Metrics: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Use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Normalized RMSE (NRMSE)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Yield prediction to report comparable, relative error percentages across all crops.</a:t>
            </a:r>
          </a:p>
        </p:txBody>
      </p:sp>
    </p:spTree>
    <p:extLst>
      <p:ext uri="{BB962C8B-B14F-4D97-AF65-F5344CB8AC3E}">
        <p14:creationId xmlns:p14="http://schemas.microsoft.com/office/powerpoint/2010/main" val="12985857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C035AD4B-44F4-C718-4D63-0BA9EC9281B8}"/>
              </a:ext>
            </a:extLst>
          </p:cNvPr>
          <p:cNvSpPr txBox="1"/>
          <p:nvPr/>
        </p:nvSpPr>
        <p:spPr>
          <a:xfrm>
            <a:off x="7467600" y="495300"/>
            <a:ext cx="9677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FLOWCHART</a:t>
            </a:r>
            <a:endParaRPr lang="en-IN" sz="36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0AEDD931-EA1E-C8E4-9468-E83A0B516FF9}"/>
              </a:ext>
            </a:extLst>
          </p:cNvPr>
          <p:cNvSpPr txBox="1"/>
          <p:nvPr/>
        </p:nvSpPr>
        <p:spPr>
          <a:xfrm>
            <a:off x="7452360" y="2019300"/>
            <a:ext cx="9144000" cy="7417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dirty="0"/>
              <a:t>[Data Ingestion]</a:t>
            </a:r>
          </a:p>
          <a:p>
            <a:r>
              <a:rPr lang="en-IN" sz="2800" dirty="0"/>
              <a:t>      ↓</a:t>
            </a:r>
          </a:p>
          <a:p>
            <a:r>
              <a:rPr lang="en-IN" sz="2800" dirty="0"/>
              <a:t>[Data Cleaning]</a:t>
            </a:r>
          </a:p>
          <a:p>
            <a:r>
              <a:rPr lang="en-IN" sz="2800" dirty="0"/>
              <a:t>      ↓</a:t>
            </a:r>
          </a:p>
          <a:p>
            <a:r>
              <a:rPr lang="en-IN" sz="2800" dirty="0"/>
              <a:t>[Data Fusion &amp; Feature Engineering]</a:t>
            </a:r>
          </a:p>
          <a:p>
            <a:r>
              <a:rPr lang="en-IN" sz="2800" dirty="0"/>
              <a:t>      ↓</a:t>
            </a:r>
          </a:p>
          <a:p>
            <a:r>
              <a:rPr lang="en-IN" sz="2800" dirty="0"/>
              <a:t>[Data Encoding]</a:t>
            </a:r>
          </a:p>
          <a:p>
            <a:r>
              <a:rPr lang="en-IN" sz="2800" dirty="0"/>
              <a:t>      ↓</a:t>
            </a:r>
          </a:p>
          <a:p>
            <a:r>
              <a:rPr lang="en-IN" sz="2800" dirty="0"/>
              <a:t>[Train/Test Split]</a:t>
            </a:r>
          </a:p>
          <a:p>
            <a:r>
              <a:rPr lang="en-IN" sz="2800" dirty="0"/>
              <a:t>      ↓</a:t>
            </a:r>
          </a:p>
          <a:p>
            <a:r>
              <a:rPr lang="en-IN" sz="2800" dirty="0"/>
              <a:t>[Model Training &amp; Selection]</a:t>
            </a:r>
          </a:p>
          <a:p>
            <a:r>
              <a:rPr lang="en-IN" sz="2800" dirty="0"/>
              <a:t>      ↓</a:t>
            </a:r>
          </a:p>
          <a:p>
            <a:r>
              <a:rPr lang="en-IN" sz="2800" dirty="0"/>
              <a:t>[Stacking/Tuning]</a:t>
            </a:r>
          </a:p>
          <a:p>
            <a:r>
              <a:rPr lang="en-IN" sz="2800" dirty="0"/>
              <a:t>      ↓</a:t>
            </a:r>
          </a:p>
          <a:p>
            <a:r>
              <a:rPr lang="en-IN" sz="2800" dirty="0"/>
              <a:t>[Evaluation &amp; Interpretation]</a:t>
            </a:r>
          </a:p>
          <a:p>
            <a:r>
              <a:rPr lang="en-IN" sz="2800" dirty="0"/>
              <a:t>      ↓</a:t>
            </a:r>
          </a:p>
          <a:p>
            <a:r>
              <a:rPr lang="en-IN" sz="2800" dirty="0"/>
              <a:t>[Actionable Insights]</a:t>
            </a:r>
          </a:p>
        </p:txBody>
      </p:sp>
    </p:spTree>
    <p:extLst>
      <p:ext uri="{BB962C8B-B14F-4D97-AF65-F5344CB8AC3E}">
        <p14:creationId xmlns:p14="http://schemas.microsoft.com/office/powerpoint/2010/main" val="30681180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xmlns="" id="{3885A8F0-5F11-6C58-CD33-CEA5A0D690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6690554"/>
              </p:ext>
            </p:extLst>
          </p:nvPr>
        </p:nvGraphicFramePr>
        <p:xfrm>
          <a:off x="2133600" y="1485900"/>
          <a:ext cx="14554200" cy="7585408"/>
        </p:xfrm>
        <a:graphic>
          <a:graphicData uri="http://schemas.openxmlformats.org/drawingml/2006/table">
            <a:tbl>
              <a:tblPr/>
              <a:tblGrid>
                <a:gridCol w="3638550">
                  <a:extLst>
                    <a:ext uri="{9D8B030D-6E8A-4147-A177-3AD203B41FA5}">
                      <a16:colId xmlns:a16="http://schemas.microsoft.com/office/drawing/2014/main" xmlns="" val="1700986394"/>
                    </a:ext>
                  </a:extLst>
                </a:gridCol>
                <a:gridCol w="3638550">
                  <a:extLst>
                    <a:ext uri="{9D8B030D-6E8A-4147-A177-3AD203B41FA5}">
                      <a16:colId xmlns:a16="http://schemas.microsoft.com/office/drawing/2014/main" xmlns="" val="2647052437"/>
                    </a:ext>
                  </a:extLst>
                </a:gridCol>
                <a:gridCol w="3638550">
                  <a:extLst>
                    <a:ext uri="{9D8B030D-6E8A-4147-A177-3AD203B41FA5}">
                      <a16:colId xmlns:a16="http://schemas.microsoft.com/office/drawing/2014/main" xmlns="" val="1734240884"/>
                    </a:ext>
                  </a:extLst>
                </a:gridCol>
                <a:gridCol w="3638550">
                  <a:extLst>
                    <a:ext uri="{9D8B030D-6E8A-4147-A177-3AD203B41FA5}">
                      <a16:colId xmlns:a16="http://schemas.microsoft.com/office/drawing/2014/main" xmlns="" val="2101037402"/>
                    </a:ext>
                  </a:extLst>
                </a:gridCol>
              </a:tblGrid>
              <a:tr h="675517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24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Task</a:t>
                      </a:r>
                      <a:endParaRPr lang="en-IN" sz="240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50664" marR="50664" marT="33776" marB="33776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2400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Existing System (Benchmark) Architecture &amp; Metric</a:t>
                      </a:r>
                      <a:endParaRPr lang="en-US" sz="240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50664" marR="50664" marT="33776" marB="33776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24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 </a:t>
                      </a:r>
                      <a:r>
                        <a:rPr lang="en-IN" sz="24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        -&gt;</a:t>
                      </a:r>
                      <a:endParaRPr lang="en-IN" sz="240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50664" marR="50664" marT="33776" marB="33776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2400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Future Project (Goal) Architecture &amp; Metric</a:t>
                      </a:r>
                      <a:endParaRPr lang="en-US" sz="240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50664" marR="50664" marT="33776" marB="33776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58871820"/>
                  </a:ext>
                </a:extLst>
              </a:tr>
              <a:tr h="1131491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24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1. Crop Yield Prediction</a:t>
                      </a:r>
                      <a:r>
                        <a:rPr lang="en-US" sz="24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 (Regression)</a:t>
                      </a:r>
                    </a:p>
                  </a:txBody>
                  <a:tcPr marL="50664" marR="50664" marT="33776" marB="33776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2400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Simple Ensemble (RF/GBM)</a:t>
                      </a:r>
                      <a:r>
                        <a:rPr lang="en-IN" sz="240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 optimized for $\mathbf{R}^2 \approx 0.92$. Validation: </a:t>
                      </a:r>
                      <a:r>
                        <a:rPr lang="en-IN" sz="2400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Standard K-Fold</a:t>
                      </a:r>
                      <a:r>
                        <a:rPr lang="en-IN" sz="240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.</a:t>
                      </a:r>
                    </a:p>
                  </a:txBody>
                  <a:tcPr marL="50664" marR="50664" marT="33776" marB="33776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24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        </a:t>
                      </a:r>
                      <a:r>
                        <a:rPr lang="en-IN" sz="24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 -&gt;</a:t>
                      </a:r>
                      <a:endParaRPr lang="en-IN" sz="240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50664" marR="50664" marT="33776" marB="33776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24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Time-Series Ensemble</a:t>
                      </a:r>
                      <a:r>
                        <a:rPr lang="en-US" sz="24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 optimized for </a:t>
                      </a:r>
                      <a:r>
                        <a:rPr lang="en-US" sz="24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R^2 &gt; 0.94</a:t>
                      </a:r>
                      <a:r>
                        <a:rPr lang="en-US" sz="24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 &amp; </a:t>
                      </a:r>
                      <a:r>
                        <a:rPr lang="en-US" sz="24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NRMSE &lt; 10%</a:t>
                      </a:r>
                      <a:r>
                        <a:rPr lang="en-US" sz="24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. Validation: </a:t>
                      </a:r>
                      <a:r>
                        <a:rPr lang="en-US" sz="24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Rolling Origin CV</a:t>
                      </a:r>
                      <a:r>
                        <a:rPr lang="en-US" sz="24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.</a:t>
                      </a:r>
                    </a:p>
                  </a:txBody>
                  <a:tcPr marL="50664" marR="50664" marT="33776" marB="33776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2132219511"/>
                  </a:ext>
                </a:extLst>
              </a:tr>
              <a:tr h="1283482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2400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2. Crop Recommendation</a:t>
                      </a:r>
                      <a:r>
                        <a:rPr lang="en-IN" sz="240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 (Multi-Class)</a:t>
                      </a:r>
                    </a:p>
                  </a:txBody>
                  <a:tcPr marL="50664" marR="50664" marT="33776" marB="33776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24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Standard Classification</a:t>
                      </a:r>
                      <a:r>
                        <a:rPr lang="en-US" sz="24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 optimized for </a:t>
                      </a:r>
                      <a:r>
                        <a:rPr lang="en-US" sz="24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Weighted F1 </a:t>
                      </a:r>
                      <a:r>
                        <a:rPr lang="en-US" sz="2400" b="1" dirty="0" err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approx</a:t>
                      </a:r>
                      <a:r>
                        <a:rPr lang="en-US" sz="24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 0.98</a:t>
                      </a:r>
                      <a:r>
                        <a:rPr lang="en-US" sz="24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. Ignores class imbalance.</a:t>
                      </a:r>
                    </a:p>
                  </a:txBody>
                  <a:tcPr marL="50664" marR="50664" marT="33776" marB="33776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24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         -&gt;</a:t>
                      </a:r>
                      <a:endParaRPr lang="en-IN" sz="240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50664" marR="50664" marT="33776" marB="33776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24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Imbalance-Robust Classification</a:t>
                      </a:r>
                      <a:r>
                        <a:rPr lang="en-US" sz="24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 optimized for </a:t>
                      </a:r>
                      <a:r>
                        <a:rPr lang="en-US" sz="24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Macro-Average F1-Score &gt; 0.96</a:t>
                      </a:r>
                      <a:r>
                        <a:rPr lang="en-US" sz="24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 </a:t>
                      </a:r>
                      <a:r>
                        <a:rPr lang="en-US" sz="24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Guarantees performance for minority crops</a:t>
                      </a:r>
                      <a:r>
                        <a:rPr lang="en-US" sz="24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.</a:t>
                      </a:r>
                    </a:p>
                  </a:txBody>
                  <a:tcPr marL="50664" marR="50664" marT="33776" marB="33776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654965984"/>
                  </a:ext>
                </a:extLst>
              </a:tr>
              <a:tr h="1435473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2400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3. Crop Damage Prediction</a:t>
                      </a:r>
                      <a:r>
                        <a:rPr lang="en-IN" sz="240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 (Ordinal)</a:t>
                      </a:r>
                    </a:p>
                  </a:txBody>
                  <a:tcPr marL="50664" marR="50664" marT="33776" marB="33776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2400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Multi-Class Classifier</a:t>
                      </a:r>
                      <a:r>
                        <a:rPr lang="en-US" sz="240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 optimized for F1-Score $\approx 0.85$. </a:t>
                      </a:r>
                      <a:r>
                        <a:rPr lang="en-US" sz="2400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Treats all errors equally (low financial intelligence)</a:t>
                      </a:r>
                      <a:r>
                        <a:rPr lang="en-US" sz="240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.</a:t>
                      </a:r>
                    </a:p>
                  </a:txBody>
                  <a:tcPr marL="50664" marR="50664" marT="33776" marB="33776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24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        -&gt;</a:t>
                      </a:r>
                      <a:endParaRPr lang="en-IN" sz="240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50664" marR="50664" marT="33776" marB="33776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24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Cost-Sensitive Ordinal Model</a:t>
                      </a:r>
                      <a:r>
                        <a:rPr lang="en-IN" sz="24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 optimized for </a:t>
                      </a:r>
                      <a:r>
                        <a:rPr lang="en-IN" sz="24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Quadratic </a:t>
                      </a:r>
                      <a:r>
                        <a:rPr lang="en-IN" sz="2400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Weighted Kappa&gt; </a:t>
                      </a:r>
                      <a:r>
                        <a:rPr lang="en-IN" sz="24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0.80$</a:t>
                      </a:r>
                      <a:r>
                        <a:rPr lang="en-IN" sz="24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. </a:t>
                      </a:r>
                      <a:r>
                        <a:rPr lang="en-IN" sz="24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Superior Risk Assessment</a:t>
                      </a:r>
                      <a:r>
                        <a:rPr lang="en-IN" sz="24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.</a:t>
                      </a:r>
                    </a:p>
                  </a:txBody>
                  <a:tcPr marL="50664" marR="50664" marT="33776" marB="33776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944681280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9983F515-07C5-EB8B-B12C-6BD675B1EDCC}"/>
              </a:ext>
            </a:extLst>
          </p:cNvPr>
          <p:cNvSpPr txBox="1"/>
          <p:nvPr/>
        </p:nvSpPr>
        <p:spPr>
          <a:xfrm>
            <a:off x="4953000" y="419100"/>
            <a:ext cx="9296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EXISTING VS PREDICTED RESULT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5998547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95400" y="495300"/>
            <a:ext cx="5638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FEATURE ANALYSIS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095500"/>
            <a:ext cx="7924800" cy="525780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55394" y="2095500"/>
            <a:ext cx="8458200" cy="4648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27594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95400" y="495300"/>
            <a:ext cx="5638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FEATURE ANALYSIS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81400" y="1203186"/>
            <a:ext cx="9906000" cy="8343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69737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7E442CF9-1AD5-5A09-C7CC-402955D28BC6}"/>
              </a:ext>
            </a:extLst>
          </p:cNvPr>
          <p:cNvSpPr txBox="1"/>
          <p:nvPr/>
        </p:nvSpPr>
        <p:spPr>
          <a:xfrm>
            <a:off x="5486400" y="419100"/>
            <a:ext cx="9144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/>
              <a:t>Performance Analysis and Comparison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xmlns="" id="{C3E64E60-F92B-66AB-B4F7-C3B2D81B95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1289106"/>
              </p:ext>
            </p:extLst>
          </p:nvPr>
        </p:nvGraphicFramePr>
        <p:xfrm>
          <a:off x="1005626" y="2552700"/>
          <a:ext cx="7376374" cy="5805846"/>
        </p:xfrm>
        <a:graphic>
          <a:graphicData uri="http://schemas.openxmlformats.org/drawingml/2006/table">
            <a:tbl>
              <a:tblPr/>
              <a:tblGrid>
                <a:gridCol w="949834">
                  <a:extLst>
                    <a:ext uri="{9D8B030D-6E8A-4147-A177-3AD203B41FA5}">
                      <a16:colId xmlns:a16="http://schemas.microsoft.com/office/drawing/2014/main" xmlns="" val="1740173726"/>
                    </a:ext>
                  </a:extLst>
                </a:gridCol>
                <a:gridCol w="1071090">
                  <a:extLst>
                    <a:ext uri="{9D8B030D-6E8A-4147-A177-3AD203B41FA5}">
                      <a16:colId xmlns:a16="http://schemas.microsoft.com/office/drawing/2014/main" xmlns="" val="2206795296"/>
                    </a:ext>
                  </a:extLst>
                </a:gridCol>
                <a:gridCol w="1071090">
                  <a:extLst>
                    <a:ext uri="{9D8B030D-6E8A-4147-A177-3AD203B41FA5}">
                      <a16:colId xmlns:a16="http://schemas.microsoft.com/office/drawing/2014/main" xmlns="" val="1072311831"/>
                    </a:ext>
                  </a:extLst>
                </a:gridCol>
                <a:gridCol w="1071090">
                  <a:extLst>
                    <a:ext uri="{9D8B030D-6E8A-4147-A177-3AD203B41FA5}">
                      <a16:colId xmlns:a16="http://schemas.microsoft.com/office/drawing/2014/main" xmlns="" val="3023093877"/>
                    </a:ext>
                  </a:extLst>
                </a:gridCol>
                <a:gridCol w="1071090">
                  <a:extLst>
                    <a:ext uri="{9D8B030D-6E8A-4147-A177-3AD203B41FA5}">
                      <a16:colId xmlns:a16="http://schemas.microsoft.com/office/drawing/2014/main" xmlns="" val="3371213099"/>
                    </a:ext>
                  </a:extLst>
                </a:gridCol>
                <a:gridCol w="1071090">
                  <a:extLst>
                    <a:ext uri="{9D8B030D-6E8A-4147-A177-3AD203B41FA5}">
                      <a16:colId xmlns:a16="http://schemas.microsoft.com/office/drawing/2014/main" xmlns="" val="4230764628"/>
                    </a:ext>
                  </a:extLst>
                </a:gridCol>
                <a:gridCol w="1071090">
                  <a:extLst>
                    <a:ext uri="{9D8B030D-6E8A-4147-A177-3AD203B41FA5}">
                      <a16:colId xmlns:a16="http://schemas.microsoft.com/office/drawing/2014/main" xmlns="" val="3629173083"/>
                    </a:ext>
                  </a:extLst>
                </a:gridCol>
              </a:tblGrid>
              <a:tr h="583243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IN" sz="1700" b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Model</a:t>
                      </a:r>
                    </a:p>
                  </a:txBody>
                  <a:tcPr marL="83987" marR="111983" marT="69989" marB="699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IN" sz="1700" b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Accuracy (%)</a:t>
                      </a:r>
                    </a:p>
                  </a:txBody>
                  <a:tcPr marL="111983" marR="111983" marT="69989" marB="699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IN" sz="1700" b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Precision</a:t>
                      </a:r>
                    </a:p>
                  </a:txBody>
                  <a:tcPr marL="111983" marR="111983" marT="69989" marB="699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IN" sz="1700" b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Recall</a:t>
                      </a:r>
                    </a:p>
                  </a:txBody>
                  <a:tcPr marL="111983" marR="111983" marT="69989" marB="699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IN" sz="1700" b="0" dirty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F1-Score</a:t>
                      </a:r>
                    </a:p>
                  </a:txBody>
                  <a:tcPr marL="111983" marR="111983" marT="69989" marB="699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IN" sz="1700" b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RMSE</a:t>
                      </a:r>
                    </a:p>
                  </a:txBody>
                  <a:tcPr marL="111983" marR="111983" marT="69989" marB="699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IN" sz="1700" b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R² Score</a:t>
                      </a:r>
                    </a:p>
                  </a:txBody>
                  <a:tcPr marL="111983" marR="111983" marT="69989" marB="699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471553004"/>
                  </a:ext>
                </a:extLst>
              </a:tr>
              <a:tr h="804875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700" b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Linear Regression</a:t>
                      </a:r>
                    </a:p>
                  </a:txBody>
                  <a:tcPr marL="83987" marR="111983" marT="69989" marB="699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700" b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82.3</a:t>
                      </a:r>
                    </a:p>
                  </a:txBody>
                  <a:tcPr marL="111983" marR="111983" marT="69989" marB="699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700" b="0" dirty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0.8vu1</a:t>
                      </a:r>
                    </a:p>
                  </a:txBody>
                  <a:tcPr marL="111983" marR="111983" marT="69989" marB="699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700" b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0.79</a:t>
                      </a:r>
                    </a:p>
                  </a:txBody>
                  <a:tcPr marL="111983" marR="111983" marT="69989" marB="699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700" b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0.80</a:t>
                      </a:r>
                    </a:p>
                  </a:txBody>
                  <a:tcPr marL="111983" marR="111983" marT="69989" marB="699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700" b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245.6</a:t>
                      </a:r>
                    </a:p>
                  </a:txBody>
                  <a:tcPr marL="111983" marR="111983" marT="69989" marB="699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700" b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0.823</a:t>
                      </a:r>
                    </a:p>
                  </a:txBody>
                  <a:tcPr marL="111983" marR="83987" marT="69989" marB="699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141382105"/>
                  </a:ext>
                </a:extLst>
              </a:tr>
              <a:tr h="583243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700" b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Decision Tree</a:t>
                      </a:r>
                    </a:p>
                  </a:txBody>
                  <a:tcPr marL="83987" marR="111983" marT="69989" marB="699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700" b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89.5</a:t>
                      </a:r>
                    </a:p>
                  </a:txBody>
                  <a:tcPr marL="111983" marR="111983" marT="69989" marB="699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700" b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0.88</a:t>
                      </a:r>
                    </a:p>
                  </a:txBody>
                  <a:tcPr marL="111983" marR="111983" marT="69989" marB="699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700" b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0.87</a:t>
                      </a:r>
                    </a:p>
                  </a:txBody>
                  <a:tcPr marL="111983" marR="111983" marT="69989" marB="699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700" b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0.88</a:t>
                      </a:r>
                    </a:p>
                  </a:txBody>
                  <a:tcPr marL="111983" marR="111983" marT="69989" marB="699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700" b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189.3</a:t>
                      </a:r>
                    </a:p>
                  </a:txBody>
                  <a:tcPr marL="111983" marR="111983" marT="69989" marB="699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700" b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0.895</a:t>
                      </a:r>
                    </a:p>
                  </a:txBody>
                  <a:tcPr marL="111983" marR="83987" marT="69989" marB="699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895474096"/>
                  </a:ext>
                </a:extLst>
              </a:tr>
              <a:tr h="583243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700" b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Random Forest</a:t>
                      </a:r>
                    </a:p>
                  </a:txBody>
                  <a:tcPr marL="83987" marR="111983" marT="69989" marB="699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700" b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94.2</a:t>
                      </a:r>
                    </a:p>
                  </a:txBody>
                  <a:tcPr marL="111983" marR="111983" marT="69989" marB="699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700" b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0.93</a:t>
                      </a:r>
                    </a:p>
                  </a:txBody>
                  <a:tcPr marL="111983" marR="111983" marT="69989" marB="699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700" b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0.92</a:t>
                      </a:r>
                    </a:p>
                  </a:txBody>
                  <a:tcPr marL="111983" marR="111983" marT="69989" marB="699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700" b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0.93</a:t>
                      </a:r>
                    </a:p>
                  </a:txBody>
                  <a:tcPr marL="111983" marR="111983" marT="69989" marB="699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700" b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132.7</a:t>
                      </a:r>
                    </a:p>
                  </a:txBody>
                  <a:tcPr marL="111983" marR="111983" marT="69989" marB="699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700" b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0.942</a:t>
                      </a:r>
                    </a:p>
                  </a:txBody>
                  <a:tcPr marL="111983" marR="83987" marT="69989" marB="699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468795672"/>
                  </a:ext>
                </a:extLst>
              </a:tr>
              <a:tr h="583243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700" b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Gradient Boosting</a:t>
                      </a:r>
                    </a:p>
                  </a:txBody>
                  <a:tcPr marL="83987" marR="111983" marT="69989" marB="699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700" b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95.8</a:t>
                      </a:r>
                    </a:p>
                  </a:txBody>
                  <a:tcPr marL="111983" marR="111983" marT="69989" marB="699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700" b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0.95</a:t>
                      </a:r>
                    </a:p>
                  </a:txBody>
                  <a:tcPr marL="111983" marR="111983" marT="69989" marB="699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700" b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0.94</a:t>
                      </a:r>
                    </a:p>
                  </a:txBody>
                  <a:tcPr marL="111983" marR="111983" marT="69989" marB="699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700" b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0.95</a:t>
                      </a:r>
                    </a:p>
                  </a:txBody>
                  <a:tcPr marL="111983" marR="111983" marT="69989" marB="699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700" b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118.4</a:t>
                      </a:r>
                    </a:p>
                  </a:txBody>
                  <a:tcPr marL="111983" marR="111983" marT="69989" marB="699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700" b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0.958</a:t>
                      </a:r>
                    </a:p>
                  </a:txBody>
                  <a:tcPr marL="111983" marR="83987" marT="69989" marB="699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303061860"/>
                  </a:ext>
                </a:extLst>
              </a:tr>
              <a:tr h="36161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700" b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XGBoost</a:t>
                      </a:r>
                    </a:p>
                  </a:txBody>
                  <a:tcPr marL="83987" marR="111983" marT="69989" marB="699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700" b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96.1</a:t>
                      </a:r>
                    </a:p>
                  </a:txBody>
                  <a:tcPr marL="111983" marR="111983" marT="69989" marB="699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700" b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0.96</a:t>
                      </a:r>
                    </a:p>
                  </a:txBody>
                  <a:tcPr marL="111983" marR="111983" marT="69989" marB="699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700" b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0.95</a:t>
                      </a:r>
                    </a:p>
                  </a:txBody>
                  <a:tcPr marL="111983" marR="111983" marT="69989" marB="699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700" b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0.96</a:t>
                      </a:r>
                    </a:p>
                  </a:txBody>
                  <a:tcPr marL="111983" marR="111983" marT="69989" marB="699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700" b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105.8</a:t>
                      </a:r>
                    </a:p>
                  </a:txBody>
                  <a:tcPr marL="111983" marR="111983" marT="69989" marB="699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700" b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0.961</a:t>
                      </a:r>
                    </a:p>
                  </a:txBody>
                  <a:tcPr marL="111983" marR="83987" marT="69989" marB="699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424962039"/>
                  </a:ext>
                </a:extLst>
              </a:tr>
              <a:tr h="1026507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700" b="1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Extra Trees (Proposed)</a:t>
                      </a:r>
                      <a:endParaRPr lang="en-IN" sz="1700" b="0">
                        <a:solidFill>
                          <a:schemeClr val="bg1"/>
                        </a:solidFill>
                        <a:effectLst/>
                        <a:latin typeface="quote-cjk-patch"/>
                      </a:endParaRPr>
                    </a:p>
                  </a:txBody>
                  <a:tcPr marL="83987" marR="111983" marT="69989" marB="699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700" b="1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97.5</a:t>
                      </a:r>
                      <a:endParaRPr lang="en-IN" sz="1700" b="0">
                        <a:solidFill>
                          <a:schemeClr val="bg1"/>
                        </a:solidFill>
                        <a:effectLst/>
                        <a:latin typeface="quote-cjk-patch"/>
                      </a:endParaRPr>
                    </a:p>
                  </a:txBody>
                  <a:tcPr marL="111983" marR="111983" marT="69989" marB="699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700" b="1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0.97</a:t>
                      </a:r>
                      <a:endParaRPr lang="en-IN" sz="1700" b="0">
                        <a:solidFill>
                          <a:schemeClr val="bg1"/>
                        </a:solidFill>
                        <a:effectLst/>
                        <a:latin typeface="quote-cjk-patch"/>
                      </a:endParaRPr>
                    </a:p>
                  </a:txBody>
                  <a:tcPr marL="111983" marR="111983" marT="69989" marB="699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700" b="1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0.96</a:t>
                      </a:r>
                      <a:endParaRPr lang="en-IN" sz="1700" b="0">
                        <a:solidFill>
                          <a:schemeClr val="bg1"/>
                        </a:solidFill>
                        <a:effectLst/>
                        <a:latin typeface="quote-cjk-patch"/>
                      </a:endParaRPr>
                    </a:p>
                  </a:txBody>
                  <a:tcPr marL="111983" marR="111983" marT="69989" marB="699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700" b="1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0.97</a:t>
                      </a:r>
                      <a:endParaRPr lang="en-IN" sz="1700" b="0">
                        <a:solidFill>
                          <a:schemeClr val="bg1"/>
                        </a:solidFill>
                        <a:effectLst/>
                        <a:latin typeface="quote-cjk-patch"/>
                      </a:endParaRPr>
                    </a:p>
                  </a:txBody>
                  <a:tcPr marL="111983" marR="111983" marT="69989" marB="699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700" b="1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89.2</a:t>
                      </a:r>
                      <a:endParaRPr lang="en-IN" sz="1700" b="0">
                        <a:solidFill>
                          <a:schemeClr val="bg1"/>
                        </a:solidFill>
                        <a:effectLst/>
                        <a:latin typeface="quote-cjk-patch"/>
                      </a:endParaRPr>
                    </a:p>
                  </a:txBody>
                  <a:tcPr marL="111983" marR="111983" marT="69989" marB="699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700" b="1" dirty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0.975</a:t>
                      </a:r>
                      <a:endParaRPr lang="en-IN" sz="1700" b="0" dirty="0">
                        <a:solidFill>
                          <a:schemeClr val="bg1"/>
                        </a:solidFill>
                        <a:effectLst/>
                        <a:latin typeface="quote-cjk-patch"/>
                      </a:endParaRPr>
                    </a:p>
                  </a:txBody>
                  <a:tcPr marL="111983" marR="83987" marT="69989" marB="699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964247446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xmlns="" id="{0177BD8E-A1A4-EFB6-7F41-3324748776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1215811"/>
              </p:ext>
            </p:extLst>
          </p:nvPr>
        </p:nvGraphicFramePr>
        <p:xfrm>
          <a:off x="9144000" y="2576052"/>
          <a:ext cx="8229599" cy="5299893"/>
        </p:xfrm>
        <a:graphic>
          <a:graphicData uri="http://schemas.openxmlformats.org/drawingml/2006/table">
            <a:tbl>
              <a:tblPr/>
              <a:tblGrid>
                <a:gridCol w="1877627">
                  <a:extLst>
                    <a:ext uri="{9D8B030D-6E8A-4147-A177-3AD203B41FA5}">
                      <a16:colId xmlns:a16="http://schemas.microsoft.com/office/drawing/2014/main" xmlns="" val="2919466131"/>
                    </a:ext>
                  </a:extLst>
                </a:gridCol>
                <a:gridCol w="2117324">
                  <a:extLst>
                    <a:ext uri="{9D8B030D-6E8A-4147-A177-3AD203B41FA5}">
                      <a16:colId xmlns:a16="http://schemas.microsoft.com/office/drawing/2014/main" xmlns="" val="3436704422"/>
                    </a:ext>
                  </a:extLst>
                </a:gridCol>
                <a:gridCol w="2117324">
                  <a:extLst>
                    <a:ext uri="{9D8B030D-6E8A-4147-A177-3AD203B41FA5}">
                      <a16:colId xmlns:a16="http://schemas.microsoft.com/office/drawing/2014/main" xmlns="" val="2681250953"/>
                    </a:ext>
                  </a:extLst>
                </a:gridCol>
                <a:gridCol w="2117324">
                  <a:extLst>
                    <a:ext uri="{9D8B030D-6E8A-4147-A177-3AD203B41FA5}">
                      <a16:colId xmlns:a16="http://schemas.microsoft.com/office/drawing/2014/main" xmlns="" val="665801917"/>
                    </a:ext>
                  </a:extLst>
                </a:gridCol>
              </a:tblGrid>
              <a:tr h="1090513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IN" b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Model</a:t>
                      </a:r>
                    </a:p>
                  </a:txBody>
                  <a:tcPr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IN" b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Accuracy Improvement</a:t>
                      </a:r>
                    </a:p>
                  </a:txBody>
                  <a:tcPr marL="121920"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IN" b="0" dirty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RMSE Reduction</a:t>
                      </a:r>
                    </a:p>
                  </a:txBody>
                  <a:tcPr marL="121920"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IN" b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R² Improvement</a:t>
                      </a:r>
                    </a:p>
                  </a:txBody>
                  <a:tcPr marL="121920"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687236085"/>
                  </a:ext>
                </a:extLst>
              </a:tr>
              <a:tr h="676118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b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Decision Tree</a:t>
                      </a:r>
                    </a:p>
                  </a:txBody>
                  <a:tcPr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b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+7.2%</a:t>
                      </a:r>
                    </a:p>
                  </a:txBody>
                  <a:tcPr marL="121920"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b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-56.3</a:t>
                      </a:r>
                    </a:p>
                  </a:txBody>
                  <a:tcPr marL="121920"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b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+0.072</a:t>
                      </a:r>
                    </a:p>
                  </a:txBody>
                  <a:tcPr marL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912082597"/>
                  </a:ext>
                </a:extLst>
              </a:tr>
              <a:tr h="676118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b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Random Forest</a:t>
                      </a:r>
                    </a:p>
                  </a:txBody>
                  <a:tcPr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b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+11.9%</a:t>
                      </a:r>
                    </a:p>
                  </a:txBody>
                  <a:tcPr marL="121920"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b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-112.9</a:t>
                      </a:r>
                    </a:p>
                  </a:txBody>
                  <a:tcPr marL="121920"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b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+0.119</a:t>
                      </a:r>
                    </a:p>
                  </a:txBody>
                  <a:tcPr marL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666959889"/>
                  </a:ext>
                </a:extLst>
              </a:tr>
              <a:tr h="1090513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b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Gradient Boosting</a:t>
                      </a:r>
                    </a:p>
                  </a:txBody>
                  <a:tcPr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b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+13.5%</a:t>
                      </a:r>
                    </a:p>
                  </a:txBody>
                  <a:tcPr marL="121920"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b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-127.2</a:t>
                      </a:r>
                    </a:p>
                  </a:txBody>
                  <a:tcPr marL="121920"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b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+0.135</a:t>
                      </a:r>
                    </a:p>
                  </a:txBody>
                  <a:tcPr marL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727482519"/>
                  </a:ext>
                </a:extLst>
              </a:tr>
              <a:tr h="676118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b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XGBoost</a:t>
                      </a:r>
                    </a:p>
                  </a:txBody>
                  <a:tcPr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b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+13.8%</a:t>
                      </a:r>
                    </a:p>
                  </a:txBody>
                  <a:tcPr marL="121920"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b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-139.8</a:t>
                      </a:r>
                    </a:p>
                  </a:txBody>
                  <a:tcPr marL="121920"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b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+0.138</a:t>
                      </a:r>
                    </a:p>
                  </a:txBody>
                  <a:tcPr marL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2492058"/>
                  </a:ext>
                </a:extLst>
              </a:tr>
              <a:tr h="1090513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b="1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Extra Trees (Proposed)</a:t>
                      </a:r>
                      <a:endParaRPr lang="en-IN" b="0">
                        <a:solidFill>
                          <a:schemeClr val="bg1"/>
                        </a:solidFill>
                        <a:effectLst/>
                        <a:latin typeface="quote-cjk-patch"/>
                      </a:endParaRPr>
                    </a:p>
                  </a:txBody>
                  <a:tcPr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b="1" dirty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+15.2%</a:t>
                      </a:r>
                      <a:endParaRPr lang="en-IN" b="0" dirty="0">
                        <a:solidFill>
                          <a:schemeClr val="bg1"/>
                        </a:solidFill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b="1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-156.4</a:t>
                      </a:r>
                      <a:endParaRPr lang="en-IN" b="0">
                        <a:solidFill>
                          <a:schemeClr val="bg1"/>
                        </a:solidFill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b="1" dirty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+0.152</a:t>
                      </a:r>
                      <a:endParaRPr lang="en-IN" b="0" dirty="0">
                        <a:solidFill>
                          <a:schemeClr val="bg1"/>
                        </a:solidFill>
                        <a:effectLst/>
                        <a:latin typeface="quote-cjk-patch"/>
                      </a:endParaRPr>
                    </a:p>
                  </a:txBody>
                  <a:tcPr marL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9566909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274006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3366511" y="2319265"/>
            <a:ext cx="3016097" cy="5967867"/>
            <a:chOff x="0" y="0"/>
            <a:chExt cx="2620010" cy="5184140"/>
          </a:xfrm>
        </p:grpSpPr>
        <p:sp>
          <p:nvSpPr>
            <p:cNvPr id="3" name="Freeform 3"/>
            <p:cNvSpPr/>
            <p:nvPr/>
          </p:nvSpPr>
          <p:spPr>
            <a:xfrm>
              <a:off x="53340" y="25400"/>
              <a:ext cx="2513330" cy="5132070"/>
            </a:xfrm>
            <a:custGeom>
              <a:avLst/>
              <a:gdLst/>
              <a:ahLst/>
              <a:cxnLst/>
              <a:rect l="l" t="t" r="r" b="b"/>
              <a:pathLst>
                <a:path w="2513330" h="513207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185420" y="156210"/>
              <a:ext cx="2251710" cy="4876800"/>
            </a:xfrm>
            <a:custGeom>
              <a:avLst/>
              <a:gdLst/>
              <a:ahLst/>
              <a:cxnLst/>
              <a:rect l="l" t="t" r="r" b="b"/>
              <a:pathLst>
                <a:path w="2251710" h="487680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2" cstate="print"/>
              <a:stretch>
                <a:fillRect l="-142197" r="-142197"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>
              <a:off x="1121410" y="198120"/>
              <a:ext cx="347980" cy="43180"/>
            </a:xfrm>
            <a:custGeom>
              <a:avLst/>
              <a:gdLst/>
              <a:ahLst/>
              <a:cxnLst/>
              <a:rect l="l" t="t" r="r" b="b"/>
              <a:pathLst>
                <a:path w="347980" h="431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555555"/>
            </a:solidFill>
          </p:spPr>
        </p:sp>
        <p:sp>
          <p:nvSpPr>
            <p:cNvPr id="6" name="Freeform 6"/>
            <p:cNvSpPr/>
            <p:nvPr/>
          </p:nvSpPr>
          <p:spPr>
            <a:xfrm>
              <a:off x="1578312" y="187909"/>
              <a:ext cx="66636" cy="63602"/>
            </a:xfrm>
            <a:custGeom>
              <a:avLst/>
              <a:gdLst/>
              <a:ahLst/>
              <a:cxnLst/>
              <a:rect l="l" t="t" r="r" b="b"/>
              <a:pathLst>
                <a:path w="66636" h="63602">
                  <a:moveTo>
                    <a:pt x="33318" y="51"/>
                  </a:moveTo>
                  <a:cubicBezTo>
                    <a:pt x="21941" y="0"/>
                    <a:pt x="11406" y="6040"/>
                    <a:pt x="5703" y="15885"/>
                  </a:cubicBezTo>
                  <a:cubicBezTo>
                    <a:pt x="0" y="25729"/>
                    <a:pt x="0" y="37873"/>
                    <a:pt x="5703" y="47717"/>
                  </a:cubicBezTo>
                  <a:cubicBezTo>
                    <a:pt x="11406" y="57562"/>
                    <a:pt x="21941" y="63602"/>
                    <a:pt x="33318" y="63551"/>
                  </a:cubicBezTo>
                  <a:cubicBezTo>
                    <a:pt x="44695" y="63602"/>
                    <a:pt x="55230" y="57562"/>
                    <a:pt x="60933" y="47717"/>
                  </a:cubicBezTo>
                  <a:cubicBezTo>
                    <a:pt x="66636" y="37873"/>
                    <a:pt x="66636" y="25729"/>
                    <a:pt x="60933" y="15885"/>
                  </a:cubicBezTo>
                  <a:cubicBezTo>
                    <a:pt x="55230" y="6040"/>
                    <a:pt x="44695" y="0"/>
                    <a:pt x="33318" y="51"/>
                  </a:cubicBezTo>
                  <a:close/>
                </a:path>
              </a:pathLst>
            </a:custGeom>
            <a:solidFill>
              <a:srgbClr val="555555"/>
            </a:solidFill>
          </p:spPr>
        </p:sp>
        <p:sp>
          <p:nvSpPr>
            <p:cNvPr id="7" name="Freeform 7"/>
            <p:cNvSpPr/>
            <p:nvPr/>
          </p:nvSpPr>
          <p:spPr>
            <a:xfrm>
              <a:off x="0" y="685800"/>
              <a:ext cx="27940" cy="213360"/>
            </a:xfrm>
            <a:custGeom>
              <a:avLst/>
              <a:gdLst/>
              <a:ahLst/>
              <a:cxnLst/>
              <a:rect l="l" t="t" r="r" b="b"/>
              <a:pathLst>
                <a:path w="27940" h="21336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id="8" name="Freeform 8"/>
            <p:cNvSpPr/>
            <p:nvPr/>
          </p:nvSpPr>
          <p:spPr>
            <a:xfrm>
              <a:off x="0" y="1057910"/>
              <a:ext cx="27940" cy="384810"/>
            </a:xfrm>
            <a:custGeom>
              <a:avLst/>
              <a:gdLst/>
              <a:ahLst/>
              <a:cxnLst/>
              <a:rect l="l" t="t" r="r" b="b"/>
              <a:pathLst>
                <a:path w="27940" h="38481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id="9" name="Freeform 9"/>
            <p:cNvSpPr/>
            <p:nvPr/>
          </p:nvSpPr>
          <p:spPr>
            <a:xfrm>
              <a:off x="0" y="1526540"/>
              <a:ext cx="27940" cy="386080"/>
            </a:xfrm>
            <a:custGeom>
              <a:avLst/>
              <a:gdLst/>
              <a:ahLst/>
              <a:cxnLst/>
              <a:rect l="l" t="t" r="r" b="b"/>
              <a:pathLst>
                <a:path w="27940" h="38608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id="10" name="Freeform 10"/>
            <p:cNvSpPr/>
            <p:nvPr/>
          </p:nvSpPr>
          <p:spPr>
            <a:xfrm>
              <a:off x="2592070" y="1184910"/>
              <a:ext cx="27940" cy="618490"/>
            </a:xfrm>
            <a:custGeom>
              <a:avLst/>
              <a:gdLst/>
              <a:ahLst/>
              <a:cxnLst/>
              <a:rect l="l" t="t" r="r" b="b"/>
              <a:pathLst>
                <a:path w="27940" h="61849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id="11" name="Freeform 11"/>
            <p:cNvSpPr/>
            <p:nvPr/>
          </p:nvSpPr>
          <p:spPr>
            <a:xfrm>
              <a:off x="27940" y="0"/>
              <a:ext cx="2564130" cy="5182870"/>
            </a:xfrm>
            <a:custGeom>
              <a:avLst/>
              <a:gdLst/>
              <a:ahLst/>
              <a:cxnLst/>
              <a:rect l="l" t="t" r="r" b="b"/>
              <a:pathLst>
                <a:path w="2564130" h="518287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555555"/>
            </a:solidFill>
          </p:spPr>
        </p:sp>
      </p:grpSp>
      <p:sp>
        <p:nvSpPr>
          <p:cNvPr id="12" name="TextBox 12"/>
          <p:cNvSpPr txBox="1"/>
          <p:nvPr/>
        </p:nvSpPr>
        <p:spPr>
          <a:xfrm>
            <a:off x="11559280" y="1017759"/>
            <a:ext cx="4297294" cy="13015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113"/>
              </a:lnSpc>
              <a:spcBef>
                <a:spcPct val="0"/>
              </a:spcBef>
            </a:pPr>
            <a:r>
              <a:rPr lang="en-US" sz="6509">
                <a:solidFill>
                  <a:srgbClr val="0097B2"/>
                </a:solidFill>
                <a:latin typeface="Agrandir"/>
                <a:ea typeface="Agrandir"/>
                <a:cs typeface="Agrandir"/>
                <a:sym typeface="Agrandir"/>
              </a:rPr>
              <a:t>Conclusion</a:t>
            </a:r>
          </a:p>
        </p:txBody>
      </p:sp>
      <p:grpSp>
        <p:nvGrpSpPr>
          <p:cNvPr id="13" name="Group 13"/>
          <p:cNvGrpSpPr>
            <a:grpSpLocks noChangeAspect="1"/>
          </p:cNvGrpSpPr>
          <p:nvPr/>
        </p:nvGrpSpPr>
        <p:grpSpPr>
          <a:xfrm>
            <a:off x="-971967" y="3079220"/>
            <a:ext cx="4701324" cy="4701324"/>
            <a:chOff x="0" y="0"/>
            <a:chExt cx="14840029" cy="14840029"/>
          </a:xfrm>
        </p:grpSpPr>
        <p:sp>
          <p:nvSpPr>
            <p:cNvPr id="14" name="Freeform 14"/>
            <p:cNvSpPr/>
            <p:nvPr/>
          </p:nvSpPr>
          <p:spPr>
            <a:xfrm>
              <a:off x="-366471" y="-11891"/>
              <a:ext cx="15572971" cy="14863810"/>
            </a:xfrm>
            <a:custGeom>
              <a:avLst/>
              <a:gdLst/>
              <a:ahLst/>
              <a:cxnLst/>
              <a:rect l="l" t="t" r="r" b="b"/>
              <a:pathLst>
                <a:path w="15572971" h="14863810">
                  <a:moveTo>
                    <a:pt x="7786486" y="11891"/>
                  </a:moveTo>
                  <a:cubicBezTo>
                    <a:pt x="5127664" y="0"/>
                    <a:pt x="2665709" y="1411641"/>
                    <a:pt x="1332855" y="3712286"/>
                  </a:cubicBezTo>
                  <a:cubicBezTo>
                    <a:pt x="0" y="6012931"/>
                    <a:pt x="0" y="8850880"/>
                    <a:pt x="1332855" y="11151525"/>
                  </a:cubicBezTo>
                  <a:cubicBezTo>
                    <a:pt x="2665709" y="13452170"/>
                    <a:pt x="5127664" y="14863811"/>
                    <a:pt x="7786486" y="14851920"/>
                  </a:cubicBezTo>
                  <a:cubicBezTo>
                    <a:pt x="10445306" y="14863811"/>
                    <a:pt x="12907262" y="13452170"/>
                    <a:pt x="14240117" y="11151525"/>
                  </a:cubicBezTo>
                  <a:cubicBezTo>
                    <a:pt x="15572971" y="8850880"/>
                    <a:pt x="15572971" y="6012931"/>
                    <a:pt x="14240117" y="3712286"/>
                  </a:cubicBezTo>
                  <a:cubicBezTo>
                    <a:pt x="12907262" y="1411641"/>
                    <a:pt x="10445306" y="0"/>
                    <a:pt x="7786486" y="11891"/>
                  </a:cubicBezTo>
                  <a:close/>
                </a:path>
              </a:pathLst>
            </a:custGeom>
            <a:solidFill>
              <a:srgbClr val="B2A631"/>
            </a:solidFill>
          </p:spPr>
        </p:sp>
        <p:sp>
          <p:nvSpPr>
            <p:cNvPr id="15" name="Freeform 15"/>
            <p:cNvSpPr/>
            <p:nvPr/>
          </p:nvSpPr>
          <p:spPr>
            <a:xfrm>
              <a:off x="-156193" y="188812"/>
              <a:ext cx="15152415" cy="14462405"/>
            </a:xfrm>
            <a:custGeom>
              <a:avLst/>
              <a:gdLst/>
              <a:ahLst/>
              <a:cxnLst/>
              <a:rect l="l" t="t" r="r" b="b"/>
              <a:pathLst>
                <a:path w="15152415" h="14462405">
                  <a:moveTo>
                    <a:pt x="7576208" y="11570"/>
                  </a:moveTo>
                  <a:cubicBezTo>
                    <a:pt x="4989189" y="0"/>
                    <a:pt x="2593721" y="1373519"/>
                    <a:pt x="1296860" y="3612034"/>
                  </a:cubicBezTo>
                  <a:cubicBezTo>
                    <a:pt x="0" y="5850548"/>
                    <a:pt x="0" y="8611857"/>
                    <a:pt x="1296860" y="10850372"/>
                  </a:cubicBezTo>
                  <a:cubicBezTo>
                    <a:pt x="2593721" y="13088886"/>
                    <a:pt x="4989189" y="14462405"/>
                    <a:pt x="7576208" y="14450835"/>
                  </a:cubicBezTo>
                  <a:cubicBezTo>
                    <a:pt x="10163226" y="14462405"/>
                    <a:pt x="12558694" y="13088886"/>
                    <a:pt x="13855555" y="10850372"/>
                  </a:cubicBezTo>
                  <a:cubicBezTo>
                    <a:pt x="15152416" y="8611857"/>
                    <a:pt x="15152416" y="5850548"/>
                    <a:pt x="13855555" y="3612034"/>
                  </a:cubicBezTo>
                  <a:cubicBezTo>
                    <a:pt x="12558694" y="1373519"/>
                    <a:pt x="10163226" y="0"/>
                    <a:pt x="7576208" y="1157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6" name="Freeform 16"/>
            <p:cNvSpPr/>
            <p:nvPr/>
          </p:nvSpPr>
          <p:spPr>
            <a:xfrm>
              <a:off x="223301" y="551024"/>
              <a:ext cx="14393427" cy="13737979"/>
            </a:xfrm>
            <a:custGeom>
              <a:avLst/>
              <a:gdLst/>
              <a:ahLst/>
              <a:cxnLst/>
              <a:rect l="l" t="t" r="r" b="b"/>
              <a:pathLst>
                <a:path w="14393427" h="13737979">
                  <a:moveTo>
                    <a:pt x="7196714" y="10990"/>
                  </a:moveTo>
                  <a:cubicBezTo>
                    <a:pt x="4739280" y="0"/>
                    <a:pt x="2463801" y="1304719"/>
                    <a:pt x="1231900" y="3431106"/>
                  </a:cubicBezTo>
                  <a:cubicBezTo>
                    <a:pt x="0" y="5557493"/>
                    <a:pt x="0" y="8180487"/>
                    <a:pt x="1231900" y="10306874"/>
                  </a:cubicBezTo>
                  <a:cubicBezTo>
                    <a:pt x="2463801" y="12433261"/>
                    <a:pt x="4739280" y="13737980"/>
                    <a:pt x="7196714" y="13726990"/>
                  </a:cubicBezTo>
                  <a:cubicBezTo>
                    <a:pt x="9654147" y="13737980"/>
                    <a:pt x="11929626" y="12433261"/>
                    <a:pt x="13161527" y="10306874"/>
                  </a:cubicBezTo>
                  <a:cubicBezTo>
                    <a:pt x="14393427" y="8180487"/>
                    <a:pt x="14393427" y="5557493"/>
                    <a:pt x="13161527" y="3431106"/>
                  </a:cubicBezTo>
                  <a:cubicBezTo>
                    <a:pt x="11929626" y="1304719"/>
                    <a:pt x="9654147" y="0"/>
                    <a:pt x="7196714" y="10990"/>
                  </a:cubicBezTo>
                  <a:close/>
                </a:path>
              </a:pathLst>
            </a:custGeom>
            <a:blipFill>
              <a:blip r:embed="rId3" cstate="print"/>
              <a:stretch>
                <a:fillRect l="-24712" r="-24712"/>
              </a:stretch>
            </a:blipFill>
          </p:spPr>
        </p:sp>
      </p:grpSp>
      <p:sp>
        <p:nvSpPr>
          <p:cNvPr id="17" name="TextBox 17"/>
          <p:cNvSpPr txBox="1"/>
          <p:nvPr/>
        </p:nvSpPr>
        <p:spPr>
          <a:xfrm>
            <a:off x="8123273" y="3845706"/>
            <a:ext cx="9549150" cy="48795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521"/>
              </a:lnSpc>
              <a:spcBef>
                <a:spcPct val="0"/>
              </a:spcBef>
            </a:pPr>
            <a:r>
              <a:rPr lang="en-US" sz="2515">
                <a:solidFill>
                  <a:srgbClr val="4CA626"/>
                </a:solidFill>
                <a:latin typeface="Agrandir"/>
                <a:ea typeface="Agrandir"/>
                <a:cs typeface="Agrandir"/>
                <a:sym typeface="Agrandir"/>
              </a:rPr>
              <a:t>Crop Yield Prediction is a powerful tool that helps farmers, researchers, and governments plan better</a:t>
            </a:r>
          </a:p>
          <a:p>
            <a:pPr algn="just">
              <a:lnSpc>
                <a:spcPts val="3521"/>
              </a:lnSpc>
              <a:spcBef>
                <a:spcPct val="0"/>
              </a:spcBef>
            </a:pPr>
            <a:endParaRPr/>
          </a:p>
          <a:p>
            <a:pPr algn="just">
              <a:lnSpc>
                <a:spcPts val="3521"/>
              </a:lnSpc>
              <a:spcBef>
                <a:spcPct val="0"/>
              </a:spcBef>
            </a:pPr>
            <a:r>
              <a:rPr lang="en-US" sz="2515">
                <a:solidFill>
                  <a:srgbClr val="4CA626"/>
                </a:solidFill>
                <a:latin typeface="Agrandir"/>
                <a:ea typeface="Agrandir"/>
                <a:cs typeface="Agrandir"/>
                <a:sym typeface="Agrandir"/>
              </a:rPr>
              <a:t>These systems improve food security, reduce losses, and support smart farming.</a:t>
            </a:r>
          </a:p>
          <a:p>
            <a:pPr algn="just">
              <a:lnSpc>
                <a:spcPts val="3521"/>
              </a:lnSpc>
              <a:spcBef>
                <a:spcPct val="0"/>
              </a:spcBef>
            </a:pPr>
            <a:endParaRPr/>
          </a:p>
          <a:p>
            <a:pPr algn="just">
              <a:lnSpc>
                <a:spcPts val="3521"/>
              </a:lnSpc>
              <a:spcBef>
                <a:spcPct val="0"/>
              </a:spcBef>
            </a:pPr>
            <a:r>
              <a:rPr lang="en-US" sz="2515">
                <a:solidFill>
                  <a:srgbClr val="4CA626"/>
                </a:solidFill>
                <a:latin typeface="Agrandir"/>
                <a:ea typeface="Agrandir"/>
                <a:cs typeface="Agrandir"/>
                <a:sym typeface="Agrandir"/>
              </a:rPr>
              <a:t>As technology advances, yield predictions are becoming more accurate, faster, and easier to use — even on mobile phones.</a:t>
            </a:r>
          </a:p>
          <a:p>
            <a:pPr algn="just">
              <a:lnSpc>
                <a:spcPts val="3521"/>
              </a:lnSpc>
              <a:spcBef>
                <a:spcPct val="0"/>
              </a:spcBef>
            </a:pPr>
            <a:endParaRPr/>
          </a:p>
          <a:p>
            <a:pPr algn="just">
              <a:lnSpc>
                <a:spcPts val="3521"/>
              </a:lnSpc>
              <a:spcBef>
                <a:spcPct val="0"/>
              </a:spcBef>
            </a:pPr>
            <a:r>
              <a:rPr lang="en-US" sz="2515">
                <a:solidFill>
                  <a:srgbClr val="4CA626"/>
                </a:solidFill>
                <a:latin typeface="Agrandir"/>
                <a:ea typeface="Agrandir"/>
                <a:cs typeface="Agrandir"/>
                <a:sym typeface="Agrandir"/>
              </a:rPr>
              <a:t>In the future, crop yield predictors will play a key role in making farming more efficient, sustainable, and profitable.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900618" y="3706659"/>
            <a:ext cx="6486763" cy="13289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11629"/>
              </a:lnSpc>
              <a:spcBef>
                <a:spcPct val="0"/>
              </a:spcBef>
            </a:pPr>
            <a:r>
              <a:rPr lang="en-US" sz="6600" dirty="0">
                <a:solidFill>
                  <a:srgbClr val="000000"/>
                </a:solidFill>
                <a:latin typeface="The Youngest"/>
                <a:ea typeface="The Youngest"/>
                <a:cs typeface="The Youngest"/>
                <a:sym typeface="The Youngest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592</TotalTime>
  <Words>1495</Words>
  <Application>Microsoft Office PowerPoint</Application>
  <PresentationFormat>Custom</PresentationFormat>
  <Paragraphs>264</Paragraphs>
  <Slides>16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9" baseType="lpstr">
      <vt:lpstr>Arial</vt:lpstr>
      <vt:lpstr>Agrandir</vt:lpstr>
      <vt:lpstr>Times New Roman</vt:lpstr>
      <vt:lpstr>ITC Benguiat</vt:lpstr>
      <vt:lpstr>ITC Benguiat Bold</vt:lpstr>
      <vt:lpstr>Calibri</vt:lpstr>
      <vt:lpstr>quote-cjk-patch</vt:lpstr>
      <vt:lpstr>Copperplate Gothic 32 AB</vt:lpstr>
      <vt:lpstr>Google Sans Text</vt:lpstr>
      <vt:lpstr>Agrandir Bold</vt:lpstr>
      <vt:lpstr>The Youngest</vt:lpstr>
      <vt:lpstr>Lato Bold Italics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CROP YIELD PREDICTOR</dc:title>
  <dc:creator>HP</dc:creator>
  <cp:lastModifiedBy>poojitha</cp:lastModifiedBy>
  <cp:revision>20</cp:revision>
  <dcterms:created xsi:type="dcterms:W3CDTF">2006-08-16T00:00:00Z</dcterms:created>
  <dcterms:modified xsi:type="dcterms:W3CDTF">2025-11-14T03:09:48Z</dcterms:modified>
  <dc:identifier>DAGu_VsPHdM</dc:identifier>
</cp:coreProperties>
</file>